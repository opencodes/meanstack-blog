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7" r:id="rId2"/>
    <p:sldId id="435" r:id="rId3"/>
    <p:sldId id="436" r:id="rId4"/>
    <p:sldId id="438" r:id="rId5"/>
    <p:sldId id="439" r:id="rId6"/>
    <p:sldId id="437" r:id="rId7"/>
    <p:sldId id="440" r:id="rId8"/>
    <p:sldId id="397" r:id="rId9"/>
    <p:sldId id="441" r:id="rId10"/>
    <p:sldId id="477" r:id="rId11"/>
    <p:sldId id="474" r:id="rId12"/>
    <p:sldId id="475" r:id="rId13"/>
    <p:sldId id="454" r:id="rId14"/>
    <p:sldId id="479" r:id="rId15"/>
    <p:sldId id="480" r:id="rId16"/>
    <p:sldId id="481" r:id="rId17"/>
    <p:sldId id="455" r:id="rId18"/>
    <p:sldId id="442" r:id="rId19"/>
    <p:sldId id="456" r:id="rId20"/>
    <p:sldId id="457" r:id="rId21"/>
    <p:sldId id="458" r:id="rId22"/>
    <p:sldId id="459" r:id="rId23"/>
    <p:sldId id="460" r:id="rId24"/>
    <p:sldId id="443" r:id="rId25"/>
    <p:sldId id="461" r:id="rId26"/>
    <p:sldId id="462" r:id="rId27"/>
    <p:sldId id="463" r:id="rId28"/>
    <p:sldId id="464" r:id="rId29"/>
    <p:sldId id="465" r:id="rId30"/>
    <p:sldId id="453" r:id="rId31"/>
    <p:sldId id="444" r:id="rId32"/>
    <p:sldId id="445" r:id="rId33"/>
    <p:sldId id="466" r:id="rId34"/>
    <p:sldId id="446" r:id="rId35"/>
    <p:sldId id="467" r:id="rId36"/>
    <p:sldId id="447" r:id="rId37"/>
    <p:sldId id="468" r:id="rId38"/>
    <p:sldId id="469" r:id="rId39"/>
    <p:sldId id="471" r:id="rId40"/>
    <p:sldId id="470" r:id="rId41"/>
    <p:sldId id="282" r:id="rId42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64">
          <p15:clr>
            <a:srgbClr val="A4A3A4"/>
          </p15:clr>
        </p15:guide>
        <p15:guide id="2" pos="14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mrita T. Joshi" initials="ATJ" lastIdx="6" clrIdx="0"/>
  <p:cmAuthor id="7" name="manish_kanani" initials="m" lastIdx="1" clrIdx="7"/>
  <p:cmAuthor id="1" name="arup" initials="a" lastIdx="6" clrIdx="1"/>
  <p:cmAuthor id="2" name="admin" initials="a" lastIdx="96" clrIdx="2"/>
  <p:cmAuthor id="3" name="Arup" initials="A" lastIdx="9" clrIdx="3"/>
  <p:cmAuthor id="4" name="Pratyush P" initials="Pratyush" lastIdx="10" clrIdx="4"/>
  <p:cmAuthor id="5" name="Namrata Dhatrak" initials="ND" lastIdx="4" clrIdx="5"/>
  <p:cmAuthor id="6" name="Ankur Jain" initials="AJ" lastIdx="8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075" autoAdjust="0"/>
  </p:normalViewPr>
  <p:slideViewPr>
    <p:cSldViewPr showGuides="1">
      <p:cViewPr varScale="1">
        <p:scale>
          <a:sx n="93" d="100"/>
          <a:sy n="93" d="100"/>
        </p:scale>
        <p:origin x="774" y="72"/>
      </p:cViewPr>
      <p:guideLst>
        <p:guide orient="horz" pos="564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01F55C-440F-450C-B0A4-9D5E5A448CC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A7CC7F86-30AC-4E7C-86D0-60764867DC76}">
      <dgm:prSet phldrT="[Text]" custT="1"/>
      <dgm:spPr>
        <a:solidFill>
          <a:srgbClr val="507392"/>
        </a:solidFill>
        <a:ln>
          <a:noFill/>
        </a:ln>
      </dgm:spPr>
      <dgm:t>
        <a:bodyPr/>
        <a:lstStyle/>
        <a:p>
          <a:r>
            <a:rPr lang="en-US" sz="2000" dirty="0" smtClean="0">
              <a:latin typeface="+mn-lt"/>
            </a:rPr>
            <a:t>Mongo DB</a:t>
          </a:r>
          <a:endParaRPr lang="en-US" sz="2000" dirty="0">
            <a:latin typeface="+mn-lt"/>
          </a:endParaRPr>
        </a:p>
      </dgm:t>
    </dgm:pt>
    <dgm:pt modelId="{0FBBCE0C-D776-4BCF-A602-A0A9A5DC3BF2}" type="parTrans" cxnId="{3066A316-1334-4DB9-AD45-30D92CAD4BD9}">
      <dgm:prSet/>
      <dgm:spPr/>
      <dgm:t>
        <a:bodyPr/>
        <a:lstStyle/>
        <a:p>
          <a:endParaRPr lang="en-US" sz="4400">
            <a:latin typeface="Bebas Neue" panose="020B0606020202050201" pitchFamily="34" charset="-94"/>
          </a:endParaRPr>
        </a:p>
      </dgm:t>
    </dgm:pt>
    <dgm:pt modelId="{EF86E7E2-F43A-4F18-AA9E-AFE66D2EAFC9}" type="sibTrans" cxnId="{3066A316-1334-4DB9-AD45-30D92CAD4BD9}">
      <dgm:prSet/>
      <dgm:spPr/>
      <dgm:t>
        <a:bodyPr/>
        <a:lstStyle/>
        <a:p>
          <a:endParaRPr lang="en-US" sz="4400">
            <a:latin typeface="Bebas Neue" panose="020B0606020202050201" pitchFamily="34" charset="-94"/>
          </a:endParaRPr>
        </a:p>
      </dgm:t>
    </dgm:pt>
    <dgm:pt modelId="{861AB297-D6BD-4FCC-A5AC-C7EF21FACB0C}">
      <dgm:prSet phldrT="[Text]" custT="1"/>
      <dgm:spPr>
        <a:solidFill>
          <a:srgbClr val="507392"/>
        </a:solidFill>
        <a:ln>
          <a:noFill/>
        </a:ln>
      </dgm:spPr>
      <dgm:t>
        <a:bodyPr/>
        <a:lstStyle/>
        <a:p>
          <a:r>
            <a:rPr lang="en-US" sz="2000" dirty="0" smtClean="0">
              <a:latin typeface="+mn-lt"/>
            </a:rPr>
            <a:t>Node JS</a:t>
          </a:r>
          <a:endParaRPr lang="en-US" sz="2000" dirty="0">
            <a:latin typeface="+mn-lt"/>
          </a:endParaRPr>
        </a:p>
      </dgm:t>
    </dgm:pt>
    <dgm:pt modelId="{5755B00F-1BCC-4477-A7E4-B6CFE61A7869}" type="parTrans" cxnId="{D051B3CB-6AF8-44D3-8C82-5E0574E08AF3}">
      <dgm:prSet/>
      <dgm:spPr/>
      <dgm:t>
        <a:bodyPr/>
        <a:lstStyle/>
        <a:p>
          <a:endParaRPr lang="en-US" sz="4400">
            <a:latin typeface="Bebas Neue" panose="020B0606020202050201" pitchFamily="34" charset="-94"/>
          </a:endParaRPr>
        </a:p>
      </dgm:t>
    </dgm:pt>
    <dgm:pt modelId="{5E897F3E-52A4-4F20-8DB6-7468658E99BD}" type="sibTrans" cxnId="{D051B3CB-6AF8-44D3-8C82-5E0574E08AF3}">
      <dgm:prSet/>
      <dgm:spPr/>
      <dgm:t>
        <a:bodyPr/>
        <a:lstStyle/>
        <a:p>
          <a:endParaRPr lang="en-US" sz="4400">
            <a:latin typeface="Bebas Neue" panose="020B0606020202050201" pitchFamily="34" charset="-94"/>
          </a:endParaRPr>
        </a:p>
      </dgm:t>
    </dgm:pt>
    <dgm:pt modelId="{ABF683CF-78B0-4981-85B5-1294D1942833}">
      <dgm:prSet phldrT="[Text]" custT="1"/>
      <dgm:spPr>
        <a:solidFill>
          <a:srgbClr val="507392"/>
        </a:solidFill>
        <a:ln>
          <a:noFill/>
        </a:ln>
      </dgm:spPr>
      <dgm:t>
        <a:bodyPr/>
        <a:lstStyle/>
        <a:p>
          <a:r>
            <a:rPr lang="en-US" sz="2000" dirty="0" smtClean="0">
              <a:latin typeface="+mn-lt"/>
            </a:rPr>
            <a:t>Angular JS</a:t>
          </a:r>
          <a:endParaRPr lang="en-US" sz="2000" dirty="0">
            <a:latin typeface="+mn-lt"/>
          </a:endParaRPr>
        </a:p>
      </dgm:t>
    </dgm:pt>
    <dgm:pt modelId="{DD0DC633-6216-4A69-BB62-38A363CDA7C1}" type="parTrans" cxnId="{2CA69062-3E07-4E45-9FE5-05B7C537831C}">
      <dgm:prSet/>
      <dgm:spPr/>
      <dgm:t>
        <a:bodyPr/>
        <a:lstStyle/>
        <a:p>
          <a:endParaRPr lang="en-US" sz="4400">
            <a:latin typeface="Bebas Neue" panose="020B0606020202050201" pitchFamily="34" charset="-94"/>
          </a:endParaRPr>
        </a:p>
      </dgm:t>
    </dgm:pt>
    <dgm:pt modelId="{0EA5958B-6603-4B9B-BBAC-10E7E4E82798}" type="sibTrans" cxnId="{2CA69062-3E07-4E45-9FE5-05B7C537831C}">
      <dgm:prSet/>
      <dgm:spPr/>
      <dgm:t>
        <a:bodyPr/>
        <a:lstStyle/>
        <a:p>
          <a:endParaRPr lang="en-US" sz="4400">
            <a:latin typeface="Bebas Neue" panose="020B0606020202050201" pitchFamily="34" charset="-94"/>
          </a:endParaRPr>
        </a:p>
      </dgm:t>
    </dgm:pt>
    <dgm:pt modelId="{7BE7B312-4EFE-4010-9382-5C6AA8F00789}" type="pres">
      <dgm:prSet presAssocID="{E501F55C-440F-450C-B0A4-9D5E5A448CC4}" presName="Name0" presStyleCnt="0">
        <dgm:presLayoutVars>
          <dgm:dir/>
          <dgm:animLvl val="lvl"/>
          <dgm:resizeHandles val="exact"/>
        </dgm:presLayoutVars>
      </dgm:prSet>
      <dgm:spPr/>
    </dgm:pt>
    <dgm:pt modelId="{18F99E8D-275E-4452-AEA4-1EFE6F2AE688}" type="pres">
      <dgm:prSet presAssocID="{A7CC7F86-30AC-4E7C-86D0-60764867DC76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D96E5B-B67D-46C0-9003-30C02D1E875D}" type="pres">
      <dgm:prSet presAssocID="{EF86E7E2-F43A-4F18-AA9E-AFE66D2EAFC9}" presName="parTxOnlySpace" presStyleCnt="0"/>
      <dgm:spPr/>
    </dgm:pt>
    <dgm:pt modelId="{0627E7EA-B311-451A-8CBB-396E35C0D556}" type="pres">
      <dgm:prSet presAssocID="{861AB297-D6BD-4FCC-A5AC-C7EF21FACB0C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1FC369-BF86-4CDA-8E39-1DEA0CA4BED8}" type="pres">
      <dgm:prSet presAssocID="{5E897F3E-52A4-4F20-8DB6-7468658E99BD}" presName="parTxOnlySpace" presStyleCnt="0"/>
      <dgm:spPr/>
    </dgm:pt>
    <dgm:pt modelId="{E4936BF5-2DE4-48C0-A0DD-3DE71618695E}" type="pres">
      <dgm:prSet presAssocID="{ABF683CF-78B0-4981-85B5-1294D1942833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CA69062-3E07-4E45-9FE5-05B7C537831C}" srcId="{E501F55C-440F-450C-B0A4-9D5E5A448CC4}" destId="{ABF683CF-78B0-4981-85B5-1294D1942833}" srcOrd="2" destOrd="0" parTransId="{DD0DC633-6216-4A69-BB62-38A363CDA7C1}" sibTransId="{0EA5958B-6603-4B9B-BBAC-10E7E4E82798}"/>
    <dgm:cxn modelId="{D52C221F-F88C-414D-AAA4-82EF03743704}" type="presOf" srcId="{A7CC7F86-30AC-4E7C-86D0-60764867DC76}" destId="{18F99E8D-275E-4452-AEA4-1EFE6F2AE688}" srcOrd="0" destOrd="0" presId="urn:microsoft.com/office/officeart/2005/8/layout/chevron1"/>
    <dgm:cxn modelId="{F197BD7C-F1D7-4C42-83B8-4AF3D12721DF}" type="presOf" srcId="{E501F55C-440F-450C-B0A4-9D5E5A448CC4}" destId="{7BE7B312-4EFE-4010-9382-5C6AA8F00789}" srcOrd="0" destOrd="0" presId="urn:microsoft.com/office/officeart/2005/8/layout/chevron1"/>
    <dgm:cxn modelId="{2B4634B2-8241-47A0-B7EC-B69DC7015370}" type="presOf" srcId="{ABF683CF-78B0-4981-85B5-1294D1942833}" destId="{E4936BF5-2DE4-48C0-A0DD-3DE71618695E}" srcOrd="0" destOrd="0" presId="urn:microsoft.com/office/officeart/2005/8/layout/chevron1"/>
    <dgm:cxn modelId="{43DE85C3-DFBC-4AEA-BD65-9F47FC9B2FD0}" type="presOf" srcId="{861AB297-D6BD-4FCC-A5AC-C7EF21FACB0C}" destId="{0627E7EA-B311-451A-8CBB-396E35C0D556}" srcOrd="0" destOrd="0" presId="urn:microsoft.com/office/officeart/2005/8/layout/chevron1"/>
    <dgm:cxn modelId="{D051B3CB-6AF8-44D3-8C82-5E0574E08AF3}" srcId="{E501F55C-440F-450C-B0A4-9D5E5A448CC4}" destId="{861AB297-D6BD-4FCC-A5AC-C7EF21FACB0C}" srcOrd="1" destOrd="0" parTransId="{5755B00F-1BCC-4477-A7E4-B6CFE61A7869}" sibTransId="{5E897F3E-52A4-4F20-8DB6-7468658E99BD}"/>
    <dgm:cxn modelId="{3066A316-1334-4DB9-AD45-30D92CAD4BD9}" srcId="{E501F55C-440F-450C-B0A4-9D5E5A448CC4}" destId="{A7CC7F86-30AC-4E7C-86D0-60764867DC76}" srcOrd="0" destOrd="0" parTransId="{0FBBCE0C-D776-4BCF-A602-A0A9A5DC3BF2}" sibTransId="{EF86E7E2-F43A-4F18-AA9E-AFE66D2EAFC9}"/>
    <dgm:cxn modelId="{ED4D40D8-73CB-472C-804C-79B52C43FD58}" type="presParOf" srcId="{7BE7B312-4EFE-4010-9382-5C6AA8F00789}" destId="{18F99E8D-275E-4452-AEA4-1EFE6F2AE688}" srcOrd="0" destOrd="0" presId="urn:microsoft.com/office/officeart/2005/8/layout/chevron1"/>
    <dgm:cxn modelId="{D566CAE6-A08D-4B5A-B5E2-322C3B11EF37}" type="presParOf" srcId="{7BE7B312-4EFE-4010-9382-5C6AA8F00789}" destId="{52D96E5B-B67D-46C0-9003-30C02D1E875D}" srcOrd="1" destOrd="0" presId="urn:microsoft.com/office/officeart/2005/8/layout/chevron1"/>
    <dgm:cxn modelId="{779EB47B-850D-4826-A389-EDF0FB02DA56}" type="presParOf" srcId="{7BE7B312-4EFE-4010-9382-5C6AA8F00789}" destId="{0627E7EA-B311-451A-8CBB-396E35C0D556}" srcOrd="2" destOrd="0" presId="urn:microsoft.com/office/officeart/2005/8/layout/chevron1"/>
    <dgm:cxn modelId="{AFFA4722-BFD7-4263-8A68-BE76D82FB17A}" type="presParOf" srcId="{7BE7B312-4EFE-4010-9382-5C6AA8F00789}" destId="{3D1FC369-BF86-4CDA-8E39-1DEA0CA4BED8}" srcOrd="3" destOrd="0" presId="urn:microsoft.com/office/officeart/2005/8/layout/chevron1"/>
    <dgm:cxn modelId="{09E99548-BCAC-48BC-A25F-9D470EDC6886}" type="presParOf" srcId="{7BE7B312-4EFE-4010-9382-5C6AA8F00789}" destId="{E4936BF5-2DE4-48C0-A0DD-3DE71618695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99E8D-275E-4452-AEA4-1EFE6F2AE688}">
      <dsp:nvSpPr>
        <dsp:cNvPr id="0" name=""/>
        <dsp:cNvSpPr/>
      </dsp:nvSpPr>
      <dsp:spPr>
        <a:xfrm>
          <a:off x="1942" y="326055"/>
          <a:ext cx="2366255" cy="946502"/>
        </a:xfrm>
        <a:prstGeom prst="chevron">
          <a:avLst/>
        </a:prstGeom>
        <a:solidFill>
          <a:srgbClr val="50739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Mongo DB</a:t>
          </a:r>
          <a:endParaRPr lang="en-US" sz="2000" kern="1200" dirty="0">
            <a:latin typeface="+mn-lt"/>
          </a:endParaRPr>
        </a:p>
      </dsp:txBody>
      <dsp:txXfrm>
        <a:off x="475193" y="326055"/>
        <a:ext cx="1419753" cy="946502"/>
      </dsp:txXfrm>
    </dsp:sp>
    <dsp:sp modelId="{0627E7EA-B311-451A-8CBB-396E35C0D556}">
      <dsp:nvSpPr>
        <dsp:cNvPr id="0" name=""/>
        <dsp:cNvSpPr/>
      </dsp:nvSpPr>
      <dsp:spPr>
        <a:xfrm>
          <a:off x="2131572" y="326055"/>
          <a:ext cx="2366255" cy="946502"/>
        </a:xfrm>
        <a:prstGeom prst="chevron">
          <a:avLst/>
        </a:prstGeom>
        <a:solidFill>
          <a:srgbClr val="50739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Node JS</a:t>
          </a:r>
          <a:endParaRPr lang="en-US" sz="2000" kern="1200" dirty="0">
            <a:latin typeface="+mn-lt"/>
          </a:endParaRPr>
        </a:p>
      </dsp:txBody>
      <dsp:txXfrm>
        <a:off x="2604823" y="326055"/>
        <a:ext cx="1419753" cy="946502"/>
      </dsp:txXfrm>
    </dsp:sp>
    <dsp:sp modelId="{E4936BF5-2DE4-48C0-A0DD-3DE71618695E}">
      <dsp:nvSpPr>
        <dsp:cNvPr id="0" name=""/>
        <dsp:cNvSpPr/>
      </dsp:nvSpPr>
      <dsp:spPr>
        <a:xfrm>
          <a:off x="4261202" y="326055"/>
          <a:ext cx="2366255" cy="946502"/>
        </a:xfrm>
        <a:prstGeom prst="chevron">
          <a:avLst/>
        </a:prstGeom>
        <a:solidFill>
          <a:srgbClr val="50739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Angular JS</a:t>
          </a:r>
          <a:endParaRPr lang="en-US" sz="2000" kern="1200" dirty="0">
            <a:latin typeface="+mn-lt"/>
          </a:endParaRPr>
        </a:p>
      </dsp:txBody>
      <dsp:txXfrm>
        <a:off x="4734453" y="326055"/>
        <a:ext cx="1419753" cy="946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8F7CB-2E7D-44F7-945F-C58E0574732F}" type="datetimeFigureOut">
              <a:rPr lang="en-US" smtClean="0"/>
              <a:t>28-Jan-16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3455A-6768-48AC-BC0A-853CE24D70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56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Option - 1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C9FF7F-F696-4FD7-A2E1-3AF19DDD4A2E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63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332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99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52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996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911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729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945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32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559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74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692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007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21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6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122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82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80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060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01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834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9730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560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914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1429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18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062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237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3313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3094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246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368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105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3674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2309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internal use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3455A-6768-48AC-BC0A-853CE24D7040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8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2133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7086600" y="0"/>
            <a:ext cx="2057400" cy="2114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6750"/>
            <a:ext cx="2590800" cy="628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028"/>
          <p:cNvSpPr>
            <a:spLocks noChangeArrowheads="1"/>
          </p:cNvSpPr>
          <p:nvPr/>
        </p:nvSpPr>
        <p:spPr bwMode="auto">
          <a:xfrm>
            <a:off x="2331574" y="76200"/>
            <a:ext cx="19875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charset="0"/>
              <a:buNone/>
            </a:pPr>
            <a:r>
              <a:rPr lang="en-US" sz="1100" b="1" dirty="0" smtClean="0">
                <a:solidFill>
                  <a:srgbClr val="D8F1FD"/>
                </a:solidFill>
              </a:rPr>
              <a:t>www.persistent.com</a:t>
            </a:r>
            <a:endParaRPr lang="en-US" sz="1100" b="1" dirty="0">
              <a:solidFill>
                <a:srgbClr val="D8F1FD"/>
              </a:solidFill>
            </a:endParaRPr>
          </a:p>
        </p:txBody>
      </p:sp>
      <p:pic>
        <p:nvPicPr>
          <p:cNvPr id="6" name="Picture 19" descr="PNG logo for PPT_small size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968"/>
          <a:stretch/>
        </p:blipFill>
        <p:spPr bwMode="auto">
          <a:xfrm>
            <a:off x="7031747" y="85727"/>
            <a:ext cx="1577477" cy="1133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2405" y="4906567"/>
            <a:ext cx="18970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t>© 2015 Persistent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304" y="2266950"/>
            <a:ext cx="7069096" cy="914400"/>
          </a:xfrm>
        </p:spPr>
        <p:txBody>
          <a:bodyPr anchor="b"/>
          <a:lstStyle>
            <a:lvl1pPr>
              <a:defRPr sz="3200" b="1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792" y="3257550"/>
            <a:ext cx="7067608" cy="459568"/>
          </a:xfrm>
        </p:spPr>
        <p:txBody>
          <a:bodyPr/>
          <a:lstStyle>
            <a:lvl1pPr marL="0" indent="0" algn="l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2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2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idx="1"/>
          </p:nvPr>
        </p:nvSpPr>
        <p:spPr bwMode="auto">
          <a:xfrm>
            <a:off x="366717" y="857252"/>
            <a:ext cx="8485187" cy="399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366714" y="57151"/>
            <a:ext cx="73294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400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2800" b="1" kern="1200" dirty="0">
                <a:solidFill>
                  <a:srgbClr val="006899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31131"/>
            <a:ext cx="6400800" cy="31063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0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0866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9459917" y="161567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7" name="Rectangle 1028"/>
          <p:cNvSpPr>
            <a:spLocks noChangeArrowheads="1"/>
          </p:cNvSpPr>
          <p:nvPr/>
        </p:nvSpPr>
        <p:spPr bwMode="auto">
          <a:xfrm>
            <a:off x="3119438" y="57150"/>
            <a:ext cx="19859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charset="0"/>
              <a:buNone/>
            </a:pPr>
            <a:r>
              <a:rPr lang="en-US" sz="1100" b="1" dirty="0" smtClean="0">
                <a:solidFill>
                  <a:srgbClr val="D8F1FD"/>
                </a:solidFill>
              </a:rPr>
              <a:t>www.persistent.com</a:t>
            </a:r>
            <a:endParaRPr lang="en-US" sz="1100" b="1" dirty="0">
              <a:solidFill>
                <a:srgbClr val="D8F1FD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81" y="2502015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6705600" y="2"/>
            <a:ext cx="2438400" cy="16156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7" descr="Persistent Logo_full colour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0867" y="342900"/>
            <a:ext cx="1287866" cy="1126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52405" y="4906567"/>
            <a:ext cx="18970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t>© 2015 Persistent Systems </a:t>
            </a:r>
          </a:p>
        </p:txBody>
      </p:sp>
    </p:spTree>
    <p:extLst>
      <p:ext uri="{BB962C8B-B14F-4D97-AF65-F5344CB8AC3E}">
        <p14:creationId xmlns:p14="http://schemas.microsoft.com/office/powerpoint/2010/main" val="143808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971551"/>
            <a:ext cx="4038600" cy="36576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971551"/>
            <a:ext cx="4038600" cy="3657600"/>
          </a:xfrm>
        </p:spPr>
        <p:txBody>
          <a:bodyPr/>
          <a:lstStyle>
            <a:lvl1pPr>
              <a:defRPr sz="2000"/>
            </a:lvl1pPr>
            <a:lvl2pPr marL="363538" indent="-363538">
              <a:defRPr sz="1800"/>
            </a:lvl2pPr>
            <a:lvl3pPr marL="363538" indent="-363538">
              <a:defRPr sz="1800"/>
            </a:lvl3pPr>
            <a:lvl4pPr marL="363538" indent="-363538">
              <a:defRPr sz="1600"/>
            </a:lvl4pPr>
            <a:lvl5pPr marL="363538" indent="-363538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3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4114801"/>
            <a:ext cx="4038600" cy="479822"/>
          </a:xfrm>
        </p:spPr>
        <p:txBody>
          <a:bodyPr anchor="b"/>
          <a:lstStyle>
            <a:lvl1pPr marL="0" indent="0">
              <a:buNone/>
              <a:defRPr sz="1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971552"/>
            <a:ext cx="4573588" cy="314325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6806" y="4114801"/>
            <a:ext cx="4038599" cy="479822"/>
          </a:xfrm>
        </p:spPr>
        <p:txBody>
          <a:bodyPr anchor="b"/>
          <a:lstStyle>
            <a:lvl1pPr marL="0" indent="0">
              <a:buNone/>
              <a:defRPr sz="1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5" y="971552"/>
            <a:ext cx="4571999" cy="314325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82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7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50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8"/>
            <a:ext cx="5111750" cy="351829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599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32646"/>
            <a:ext cx="8229600" cy="425054"/>
          </a:xfrm>
        </p:spPr>
        <p:txBody>
          <a:bodyPr anchor="b">
            <a:normAutofit/>
          </a:bodyPr>
          <a:lstStyle>
            <a:lvl1pPr algn="l">
              <a:defRPr sz="1000" b="0">
                <a:solidFill>
                  <a:srgbClr val="40404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914400"/>
            <a:ext cx="82296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25154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342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2"/>
          <p:cNvSpPr txBox="1">
            <a:spLocks noChangeArrowheads="1"/>
          </p:cNvSpPr>
          <p:nvPr/>
        </p:nvSpPr>
        <p:spPr bwMode="auto">
          <a:xfrm>
            <a:off x="-100013" y="4827987"/>
            <a:ext cx="712788" cy="276999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3BC63087-840A-47AF-9013-C813B237DC88}" type="slidenum">
              <a:rPr lang="en-US" sz="1200" b="1" smtClean="0">
                <a:solidFill>
                  <a:schemeClr val="bg1"/>
                </a:solidFill>
                <a:cs typeface="+mn-cs"/>
              </a:rPr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 b="1" dirty="0" smtClean="0">
              <a:solidFill>
                <a:schemeClr val="bg1"/>
              </a:solidFill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158" y="1792787"/>
            <a:ext cx="8277234" cy="68460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781800" y="0"/>
            <a:ext cx="2362200" cy="1581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9000" y="292227"/>
            <a:ext cx="1271016" cy="99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152405" y="4906567"/>
            <a:ext cx="18970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t>© 2015 Persistent Systems </a:t>
            </a:r>
          </a:p>
        </p:txBody>
      </p:sp>
    </p:spTree>
    <p:extLst>
      <p:ext uri="{BB962C8B-B14F-4D97-AF65-F5344CB8AC3E}">
        <p14:creationId xmlns:p14="http://schemas.microsoft.com/office/powerpoint/2010/main" val="359322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8597106" y="4806489"/>
            <a:ext cx="304800" cy="3048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6717" y="857252"/>
            <a:ext cx="8485187" cy="399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366714" y="57151"/>
            <a:ext cx="73294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2" name="TextBox 12"/>
          <p:cNvSpPr txBox="1">
            <a:spLocks noChangeArrowheads="1"/>
          </p:cNvSpPr>
          <p:nvPr/>
        </p:nvSpPr>
        <p:spPr bwMode="auto">
          <a:xfrm>
            <a:off x="8393112" y="4817445"/>
            <a:ext cx="712788" cy="276999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6F96CE2-93CF-406C-ACE5-0A3BBE01630B}" type="slidenum">
              <a:rPr lang="en-US" sz="1200" b="1" smtClean="0">
                <a:solidFill>
                  <a:schemeClr val="bg1"/>
                </a:solidFill>
                <a:cs typeface="+mn-cs"/>
              </a:rPr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200" b="1" dirty="0" smtClean="0">
              <a:solidFill>
                <a:schemeClr val="bg1"/>
              </a:solidFill>
              <a:cs typeface="+mn-cs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4787439"/>
            <a:ext cx="381000" cy="3560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152405" y="4906567"/>
            <a:ext cx="18970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2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t>© 2015 Persistent Systems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6" r:id="rId2"/>
    <p:sldLayoutId id="2147483677" r:id="rId3"/>
    <p:sldLayoutId id="2147483678" r:id="rId4"/>
    <p:sldLayoutId id="2147483686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006899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899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899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899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899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6899"/>
          </a:solidFill>
          <a:latin typeface="Verdana" pitchFamily="-112" charset="0"/>
          <a:ea typeface="ＭＳ Ｐゴシック" pitchFamily="-112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6899"/>
          </a:solidFill>
          <a:latin typeface="Verdana" pitchFamily="-112" charset="0"/>
          <a:ea typeface="ＭＳ Ｐゴシック" pitchFamily="-112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6899"/>
          </a:solidFill>
          <a:latin typeface="Verdana" pitchFamily="-112" charset="0"/>
          <a:ea typeface="ＭＳ Ｐゴシック" pitchFamily="-112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6899"/>
          </a:solidFill>
          <a:latin typeface="Verdana" pitchFamily="-112" charset="0"/>
          <a:ea typeface="ＭＳ Ｐゴシック" pitchFamily="-112" charset="-128"/>
        </a:defRPr>
      </a:lvl9pPr>
    </p:titleStyle>
    <p:bodyStyle>
      <a:lvl1pPr marL="231775" indent="-231775" algn="l" defTabSz="457200" rtl="0" eaLnBrk="1" fontAlgn="base" hangingPunct="1">
        <a:spcBef>
          <a:spcPct val="20000"/>
        </a:spcBef>
        <a:spcAft>
          <a:spcPct val="0"/>
        </a:spcAft>
        <a:buClr>
          <a:srgbClr val="006899"/>
        </a:buClr>
        <a:buFont typeface="Wingdings 2" pitchFamily="18" charset="2"/>
        <a:buChar char=""/>
        <a:defRPr sz="2000" kern="1200">
          <a:solidFill>
            <a:srgbClr val="404040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1pPr>
      <a:lvl2pPr marL="509588" indent="-222250" algn="l" defTabSz="457200" rtl="0" eaLnBrk="1" fontAlgn="base" hangingPunct="1">
        <a:spcBef>
          <a:spcPct val="20000"/>
        </a:spcBef>
        <a:spcAft>
          <a:spcPct val="0"/>
        </a:spcAft>
        <a:buClr>
          <a:srgbClr val="8DC63F"/>
        </a:buClr>
        <a:buFont typeface="Wingdings 2" pitchFamily="18" charset="2"/>
        <a:buChar char=""/>
        <a:defRPr kern="1200">
          <a:solidFill>
            <a:srgbClr val="404040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marL="796925" indent="-222250" algn="l" defTabSz="457200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"/>
        <a:defRPr sz="1600" kern="1200">
          <a:solidFill>
            <a:srgbClr val="404040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marL="1031875" indent="-169863" algn="l" defTabSz="457200" rtl="0" eaLnBrk="1" fontAlgn="base" hangingPunct="1">
        <a:spcBef>
          <a:spcPct val="20000"/>
        </a:spcBef>
        <a:spcAft>
          <a:spcPct val="0"/>
        </a:spcAft>
        <a:buClr>
          <a:srgbClr val="8DC63F"/>
        </a:buClr>
        <a:buFont typeface="Wingdings 2" pitchFamily="18" charset="2"/>
        <a:buChar char=""/>
        <a:defRPr sz="1400" kern="1200">
          <a:solidFill>
            <a:srgbClr val="404040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marL="1201738" indent="-117475" algn="l" defTabSz="457200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404040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ngodb.org/download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ersistentsys.com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MEAN Stack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complete JavaScript </a:t>
            </a:r>
            <a:r>
              <a:rPr lang="en-US" dirty="0" smtClean="0"/>
              <a:t>technology stack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38800" y="3409950"/>
            <a:ext cx="3267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January 2016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Rajesh Kumar Jha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Module Lead UI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486400" y="3409950"/>
            <a:ext cx="0" cy="1219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11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 rot="16200000">
            <a:off x="-1246789" y="2446941"/>
            <a:ext cx="3179380" cy="685800"/>
          </a:xfrm>
        </p:spPr>
        <p:txBody>
          <a:bodyPr/>
          <a:lstStyle/>
          <a:p>
            <a:r>
              <a:rPr lang="en-US" sz="4000" dirty="0" smtClean="0">
                <a:solidFill>
                  <a:schemeClr val="bg1">
                    <a:lumMod val="85000"/>
                  </a:schemeClr>
                </a:solidFill>
              </a:rPr>
              <a:t>CONTENTS</a:t>
            </a:r>
            <a:endParaRPr lang="en-US" sz="4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2167760" y="859631"/>
            <a:ext cx="6214240" cy="3998119"/>
          </a:xfrm>
          <a:prstGeom prst="rect">
            <a:avLst/>
          </a:prstGeom>
        </p:spPr>
        <p:txBody>
          <a:bodyPr/>
          <a:lstStyle>
            <a:lvl1pPr marL="231775" indent="-231775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899"/>
              </a:buClr>
              <a:buFont typeface="Wingdings 2" pitchFamily="18" charset="2"/>
              <a:buChar char=""/>
              <a:defRPr sz="20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  <a:lvl2pPr marL="509588" indent="-2222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DC63F"/>
              </a:buClr>
              <a:buFont typeface="Wingdings 2" pitchFamily="18" charset="2"/>
              <a:buChar char=""/>
              <a:defRPr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2pPr>
            <a:lvl3pPr marL="796925" indent="-2222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 2" pitchFamily="18" charset="2"/>
              <a:buChar char=""/>
              <a:defRPr sz="16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3pPr>
            <a:lvl4pPr marL="1031875" indent="-169863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DC63F"/>
              </a:buClr>
              <a:buFont typeface="Wingdings 2" pitchFamily="18" charset="2"/>
              <a:buChar char=""/>
              <a:defRPr sz="14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4pPr>
            <a:lvl5pPr marL="1201738" indent="-117475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2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spcAft>
                <a:spcPts val="1200"/>
              </a:spcAft>
              <a:buClr>
                <a:schemeClr val="accent3">
                  <a:lumMod val="40000"/>
                  <a:lumOff val="60000"/>
                </a:schemeClr>
              </a:buClr>
              <a:buNone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Clr>
                <a:schemeClr val="accent3">
                  <a:lumMod val="40000"/>
                  <a:lumOff val="60000"/>
                </a:schemeClr>
              </a:buClr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MongoDB &amp;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DB Schema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Clr>
                <a:schemeClr val="accent3">
                  <a:lumMod val="40000"/>
                  <a:lumOff val="60000"/>
                </a:schemeClr>
              </a:buClr>
              <a:buNone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Node.js and Express framework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Clr>
                <a:schemeClr val="accent3">
                  <a:lumMod val="40000"/>
                  <a:lumOff val="60000"/>
                </a:schemeClr>
              </a:buClr>
              <a:buNone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Front-End with Angular JS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Clr>
                <a:schemeClr val="accent3">
                  <a:lumMod val="40000"/>
                  <a:lumOff val="60000"/>
                </a:schemeClr>
              </a:buClr>
              <a:buNone/>
            </a:pP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800"/>
              </a:spcBef>
              <a:spcAft>
                <a:spcPts val="1200"/>
              </a:spcAft>
            </a:pPr>
            <a:endParaRPr lang="en-US" sz="24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800"/>
              </a:spcBef>
              <a:spcAft>
                <a:spcPts val="1200"/>
              </a:spcAft>
            </a:pP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H="1">
            <a:off x="2015359" y="817591"/>
            <a:ext cx="45719" cy="533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329560" y="741391"/>
            <a:ext cx="685800" cy="685800"/>
          </a:xfrm>
          <a:prstGeom prst="ellipse">
            <a:avLst/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3200" b="1" dirty="0" smtClean="0">
                <a:solidFill>
                  <a:schemeClr val="accent1"/>
                </a:solidFill>
              </a:rPr>
              <a:t>01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329560" y="1484341"/>
            <a:ext cx="685800" cy="685800"/>
          </a:xfrm>
          <a:prstGeom prst="ellipse">
            <a:avLst/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3200" b="1" dirty="0" smtClean="0">
                <a:solidFill>
                  <a:schemeClr val="accent1"/>
                </a:solidFill>
              </a:rPr>
              <a:t>02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295400" y="2227291"/>
            <a:ext cx="685800" cy="685800"/>
          </a:xfrm>
          <a:prstGeom prst="ellipse">
            <a:avLst/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3200" b="1" dirty="0" smtClean="0">
                <a:solidFill>
                  <a:schemeClr val="accent1"/>
                </a:solidFill>
              </a:rPr>
              <a:t>03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329560" y="2970241"/>
            <a:ext cx="685800" cy="685800"/>
          </a:xfrm>
          <a:prstGeom prst="ellipse">
            <a:avLst/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3200" b="1" dirty="0" smtClean="0">
                <a:solidFill>
                  <a:schemeClr val="accent1"/>
                </a:solidFill>
              </a:rPr>
              <a:t>04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295400" y="3713191"/>
            <a:ext cx="685800" cy="685800"/>
          </a:xfrm>
          <a:prstGeom prst="ellipse">
            <a:avLst/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3200" b="1" dirty="0" smtClean="0">
                <a:solidFill>
                  <a:schemeClr val="accent1"/>
                </a:solidFill>
              </a:rPr>
              <a:t>05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2015360" y="1560541"/>
            <a:ext cx="45719" cy="533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 flipH="1">
            <a:off x="2015360" y="2303491"/>
            <a:ext cx="45719" cy="533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 flipH="1">
            <a:off x="2015358" y="3046441"/>
            <a:ext cx="45719" cy="533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flipH="1">
            <a:off x="2015357" y="3789391"/>
            <a:ext cx="45719" cy="533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5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animBg="1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get a high-level understanding of the main components that make up an app using the MEAN stack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Will be able to put together the app described using the tools presented and have a feel for the "flow" </a:t>
            </a:r>
            <a:r>
              <a:rPr lang="en-US" dirty="0" smtClean="0"/>
              <a:t>of working </a:t>
            </a:r>
            <a:r>
              <a:rPr lang="en-US" dirty="0"/>
              <a:t>with this stack and to write some JavaScript</a:t>
            </a:r>
            <a:r>
              <a:rPr lang="en-US" dirty="0" smtClean="0"/>
              <a:t>.</a:t>
            </a:r>
          </a:p>
          <a:p>
            <a:r>
              <a:rPr lang="en-US" dirty="0" smtClean="0"/>
              <a:t>Will develop a simple blog post app with MEAN stack to get working experience on JavaScript end to end.</a:t>
            </a:r>
            <a:endParaRPr lang="en-US" dirty="0"/>
          </a:p>
          <a:p>
            <a:r>
              <a:rPr lang="en-US" dirty="0"/>
              <a:t>This is a beginner tutorial so there won't be deep technical dives.</a:t>
            </a:r>
          </a:p>
          <a:p>
            <a:r>
              <a:rPr lang="en-US" dirty="0"/>
              <a:t>If you get stuck, you can ask me for help.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expect from this </a:t>
            </a:r>
            <a:r>
              <a:rPr lang="en-US" dirty="0" smtClean="0"/>
              <a:t>session?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37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6717" y="857252"/>
            <a:ext cx="3671883" cy="3998119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M = MongoDB</a:t>
            </a:r>
            <a:r>
              <a:rPr lang="en-US" dirty="0"/>
              <a:t>, the most popular </a:t>
            </a:r>
            <a:r>
              <a:rPr lang="en-US" dirty="0" smtClean="0"/>
              <a:t>NOSQL operational database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E = Express.js</a:t>
            </a:r>
            <a:r>
              <a:rPr lang="en-US" dirty="0"/>
              <a:t>, a lightweight web application </a:t>
            </a:r>
            <a:r>
              <a:rPr lang="en-US" dirty="0" smtClean="0"/>
              <a:t>framework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A = Angular.js</a:t>
            </a:r>
            <a:r>
              <a:rPr lang="en-US" dirty="0"/>
              <a:t>, a robust framework for creating HTML5 and JavaScript rich web </a:t>
            </a:r>
            <a:r>
              <a:rPr lang="en-US" dirty="0" smtClean="0"/>
              <a:t>applications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N = Node.js</a:t>
            </a:r>
            <a:r>
              <a:rPr lang="en-US" dirty="0"/>
              <a:t>, a server-side JavaScript interpreter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is an acronym: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212" y="971550"/>
            <a:ext cx="5038590" cy="34010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9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Same Lang Same Object, End-to-End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667908"/>
              </p:ext>
            </p:extLst>
          </p:nvPr>
        </p:nvGraphicFramePr>
        <p:xfrm>
          <a:off x="1219200" y="1123950"/>
          <a:ext cx="6629400" cy="1598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1295400" y="2724150"/>
            <a:ext cx="1905000" cy="8168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"_id" : </a:t>
            </a:r>
            <a:r>
              <a:rPr lang="en-US" sz="1100" dirty="0" smtClean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en-US" sz="1100" dirty="0">
              <a:solidFill>
                <a:srgbClr val="8F9D6A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"username" : </a:t>
            </a:r>
            <a:r>
              <a:rPr lang="en-US" sz="1100" dirty="0" smtClean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“user1"   </a:t>
            </a:r>
            <a:endParaRPr lang="en-US" sz="1100" dirty="0">
              <a:solidFill>
                <a:srgbClr val="8F9D6A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05200" y="2724150"/>
            <a:ext cx="1905000" cy="8168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"_id" : </a:t>
            </a:r>
            <a:r>
              <a:rPr lang="en-US" sz="1100" dirty="0" smtClean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en-US" sz="1100" dirty="0">
              <a:solidFill>
                <a:srgbClr val="8F9D6A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"username" : </a:t>
            </a:r>
            <a:r>
              <a:rPr lang="en-US" sz="1100" dirty="0" smtClean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“user1"   </a:t>
            </a:r>
            <a:endParaRPr lang="en-US" sz="1100" dirty="0">
              <a:solidFill>
                <a:srgbClr val="8F9D6A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5000" y="2724150"/>
            <a:ext cx="1905000" cy="8168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"_id" : </a:t>
            </a:r>
            <a:r>
              <a:rPr lang="en-US" sz="1100" dirty="0" smtClean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en-US" sz="1100" dirty="0">
              <a:solidFill>
                <a:srgbClr val="8F9D6A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"username" : </a:t>
            </a:r>
            <a:r>
              <a:rPr lang="en-US" sz="1100" dirty="0" smtClean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“user1"   </a:t>
            </a:r>
            <a:endParaRPr lang="en-US" sz="1100" dirty="0">
              <a:solidFill>
                <a:srgbClr val="8F9D6A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100" dirty="0">
                <a:solidFill>
                  <a:srgbClr val="8F9D6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08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Workflow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779319"/>
            <a:ext cx="7024686" cy="394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0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6717" y="857252"/>
            <a:ext cx="4357683" cy="3998119"/>
          </a:xfrm>
        </p:spPr>
        <p:txBody>
          <a:bodyPr/>
          <a:lstStyle/>
          <a:p>
            <a:r>
              <a:rPr lang="en-US" dirty="0"/>
              <a:t>A blog is a frequently updated online </a:t>
            </a:r>
            <a:r>
              <a:rPr lang="en-US" dirty="0" smtClean="0"/>
              <a:t>personal journal </a:t>
            </a:r>
            <a:r>
              <a:rPr lang="en-US" dirty="0"/>
              <a:t>or diary</a:t>
            </a:r>
          </a:p>
          <a:p>
            <a:r>
              <a:rPr lang="en-US" dirty="0"/>
              <a:t>Features we are going to implement.</a:t>
            </a:r>
          </a:p>
          <a:p>
            <a:pPr lvl="1"/>
            <a:r>
              <a:rPr lang="en-US" dirty="0" smtClean="0"/>
              <a:t>Log </a:t>
            </a:r>
            <a:r>
              <a:rPr lang="en-US" dirty="0"/>
              <a:t>In/Logout</a:t>
            </a:r>
          </a:p>
          <a:p>
            <a:pPr lvl="1"/>
            <a:r>
              <a:rPr lang="en-US" dirty="0" smtClean="0"/>
              <a:t>Signup</a:t>
            </a:r>
            <a:endParaRPr lang="en-US" dirty="0"/>
          </a:p>
          <a:p>
            <a:pPr lvl="1"/>
            <a:r>
              <a:rPr lang="en-US" dirty="0" smtClean="0"/>
              <a:t>Add </a:t>
            </a:r>
            <a:r>
              <a:rPr lang="en-US" dirty="0"/>
              <a:t>Post</a:t>
            </a:r>
          </a:p>
          <a:p>
            <a:pPr lvl="1"/>
            <a:r>
              <a:rPr lang="en-US" dirty="0" smtClean="0"/>
              <a:t>Add </a:t>
            </a:r>
            <a:r>
              <a:rPr lang="en-US" dirty="0"/>
              <a:t>Comment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</a:t>
            </a:r>
            <a:r>
              <a:rPr lang="en-US" dirty="0" smtClean="0"/>
              <a:t>app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857252"/>
            <a:ext cx="3214917" cy="352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5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81" y="2502015"/>
            <a:ext cx="8000920" cy="10215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MongoDB</a:t>
            </a:r>
            <a:br>
              <a:rPr lang="en-US" dirty="0" smtClean="0"/>
            </a:br>
            <a:r>
              <a:rPr lang="en-US" sz="2000" dirty="0" smtClean="0"/>
              <a:t>A </a:t>
            </a:r>
            <a:r>
              <a:rPr lang="en-US" sz="2000" dirty="0"/>
              <a:t>cross-platform </a:t>
            </a:r>
            <a:r>
              <a:rPr lang="en-US" sz="2000" dirty="0" smtClean="0"/>
              <a:t>document-oriented database.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6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Mongo </a:t>
            </a:r>
            <a:r>
              <a:rPr lang="en-US" dirty="0"/>
              <a:t>DB is an open-source document database that provides high performance, high availability, and automatic scaling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MongoDb</a:t>
            </a:r>
            <a:r>
              <a:rPr lang="en-US" dirty="0" smtClean="0"/>
              <a:t> </a:t>
            </a:r>
            <a:r>
              <a:rPr lang="en-US" dirty="0"/>
              <a:t>Characteristics:</a:t>
            </a:r>
          </a:p>
          <a:p>
            <a:pPr lvl="1"/>
            <a:r>
              <a:rPr lang="en-US" dirty="0"/>
              <a:t>Schema Free</a:t>
            </a:r>
          </a:p>
          <a:p>
            <a:pPr lvl="1"/>
            <a:r>
              <a:rPr lang="en-US" dirty="0"/>
              <a:t>Suitable for storing all kinds of data.</a:t>
            </a:r>
          </a:p>
          <a:p>
            <a:pPr lvl="1"/>
            <a:r>
              <a:rPr lang="en-US" dirty="0"/>
              <a:t>Non –Relational Data</a:t>
            </a:r>
          </a:p>
          <a:p>
            <a:pPr lvl="1"/>
            <a:r>
              <a:rPr lang="en-US" dirty="0"/>
              <a:t>Stores data as a JSON document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Horizontally scalable </a:t>
            </a:r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MongoDB?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51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record in Mongo DB is a document, which is a data structure composed of </a:t>
            </a:r>
            <a:r>
              <a:rPr lang="en-US" dirty="0" smtClean="0"/>
              <a:t>key-value </a:t>
            </a:r>
            <a:r>
              <a:rPr lang="en-US" dirty="0"/>
              <a:t>pairs. </a:t>
            </a:r>
          </a:p>
          <a:p>
            <a:r>
              <a:rPr lang="en-US" dirty="0"/>
              <a:t>Mongo DB documents are similar to JSON objects. </a:t>
            </a:r>
          </a:p>
          <a:p>
            <a:r>
              <a:rPr lang="en-US" dirty="0"/>
              <a:t>The values of </a:t>
            </a:r>
            <a:r>
              <a:rPr lang="en-US" dirty="0" smtClean="0"/>
              <a:t>key </a:t>
            </a:r>
            <a:r>
              <a:rPr lang="en-US" dirty="0"/>
              <a:t>may include other documents, arrays, and arrays of documents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The advantages of using documents are:</a:t>
            </a:r>
          </a:p>
          <a:p>
            <a:r>
              <a:rPr lang="en-US" dirty="0"/>
              <a:t>Documents (i.e. objects) correspond to native data types in many programming languages.</a:t>
            </a:r>
          </a:p>
          <a:p>
            <a:r>
              <a:rPr lang="en-US" dirty="0"/>
              <a:t>Embedded documents and arrays reduce the need for expensive joins.</a:t>
            </a:r>
          </a:p>
          <a:p>
            <a:r>
              <a:rPr lang="en-US" dirty="0"/>
              <a:t>Dynamic schema supports fluent polymorphism.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Document Database?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57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High Performance</a:t>
            </a:r>
          </a:p>
          <a:p>
            <a:pPr lvl="1"/>
            <a:r>
              <a:rPr lang="en-US" dirty="0"/>
              <a:t>MongoDB provides high-performance data persistence through:</a:t>
            </a:r>
          </a:p>
          <a:p>
            <a:pPr lvl="2"/>
            <a:r>
              <a:rPr lang="en-US" dirty="0"/>
              <a:t>Support for embedded data models reduces I/O activity on the database system.</a:t>
            </a:r>
          </a:p>
          <a:p>
            <a:pPr lvl="2"/>
            <a:r>
              <a:rPr lang="en-US" dirty="0"/>
              <a:t>Indexes support faster queries and can include keys from embedded documents </a:t>
            </a:r>
            <a:r>
              <a:rPr lang="en-US" dirty="0" smtClean="0"/>
              <a:t>and </a:t>
            </a:r>
            <a:r>
              <a:rPr lang="en-US" dirty="0"/>
              <a:t>arrays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chemeClr val="accent2"/>
                </a:solidFill>
              </a:rPr>
              <a:t>High Availability</a:t>
            </a:r>
          </a:p>
          <a:p>
            <a:pPr lvl="1"/>
            <a:r>
              <a:rPr lang="en-US" dirty="0"/>
              <a:t>To provide high availability, MongoDB’s replication facility, called replica sets, provide:</a:t>
            </a:r>
          </a:p>
          <a:p>
            <a:pPr lvl="2"/>
            <a:r>
              <a:rPr lang="en-US" dirty="0"/>
              <a:t>- automatic failover.</a:t>
            </a:r>
          </a:p>
          <a:p>
            <a:pPr lvl="2"/>
            <a:r>
              <a:rPr lang="en-US" dirty="0"/>
              <a:t>- data redundancy.</a:t>
            </a:r>
          </a:p>
          <a:p>
            <a:pPr lvl="2"/>
            <a:r>
              <a:rPr lang="en-US" dirty="0"/>
              <a:t>A replica set is a group of MongoDB servers that maintain the same data set, providing redundancy and increasing data availability.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Features of MongoDB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64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Automatic Scaling</a:t>
            </a:r>
          </a:p>
          <a:p>
            <a:pPr lvl="1"/>
            <a:r>
              <a:rPr lang="en-US" dirty="0"/>
              <a:t>MongoDB provides horizontal </a:t>
            </a:r>
            <a:r>
              <a:rPr lang="en-US" dirty="0" smtClean="0"/>
              <a:t>scaling </a:t>
            </a:r>
            <a:r>
              <a:rPr lang="en-US" dirty="0"/>
              <a:t>as part of its core functionality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In a </a:t>
            </a:r>
            <a:r>
              <a:rPr lang="en-US" dirty="0" smtClean="0"/>
              <a:t>database horizontal-scaling </a:t>
            </a:r>
            <a:r>
              <a:rPr lang="en-US" dirty="0"/>
              <a:t>is often based on partitioning of the data i.e. each node contains only part of the data , in vertical-scaling the data resides on a single node and scaling is done through multi-core i.e. spreading the load between the CPU and RAM resources of that machine.</a:t>
            </a:r>
          </a:p>
          <a:p>
            <a:pPr lvl="1"/>
            <a:r>
              <a:rPr lang="en-US" dirty="0" smtClean="0"/>
              <a:t>Automatic </a:t>
            </a:r>
            <a:r>
              <a:rPr lang="en-US" dirty="0" err="1"/>
              <a:t>sharding</a:t>
            </a:r>
            <a:r>
              <a:rPr lang="en-US" dirty="0"/>
              <a:t> distributes data across a cluster of machines.</a:t>
            </a:r>
          </a:p>
          <a:p>
            <a:pPr lvl="1"/>
            <a:r>
              <a:rPr lang="en-US" dirty="0" smtClean="0"/>
              <a:t>Replica </a:t>
            </a:r>
            <a:r>
              <a:rPr lang="en-US" dirty="0"/>
              <a:t>sets can provide eventually consistent reads for low-latency high throughput deployments.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20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b="1" dirty="0">
                <a:solidFill>
                  <a:schemeClr val="accent2"/>
                </a:solidFill>
              </a:rPr>
              <a:t>MongoDB</a:t>
            </a:r>
            <a:r>
              <a:rPr lang="en-US" b="1" dirty="0"/>
              <a:t> </a:t>
            </a:r>
            <a:r>
              <a:rPr lang="en-US" dirty="0"/>
              <a:t>from </a:t>
            </a: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www.mongodb.org/downloads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Run </a:t>
            </a:r>
            <a:r>
              <a:rPr lang="en-US" dirty="0"/>
              <a:t>the installer, A set of screens will appear to guide you through the installation </a:t>
            </a:r>
            <a:r>
              <a:rPr lang="en-US" dirty="0" smtClean="0"/>
              <a:t>process. After installation following set of binary component available in installation directory.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nstallation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48696"/>
              </p:ext>
            </p:extLst>
          </p:nvPr>
        </p:nvGraphicFramePr>
        <p:xfrm>
          <a:off x="718419" y="2647950"/>
          <a:ext cx="7772399" cy="1844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1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3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mongod.exe 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Router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mongos.exe 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Client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mongo.exe 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Monitoring Tools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mongostat.exe, mongotop.exe 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Import-export Tools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mongodump.exe, mongorestore.exe, mongoexport.exe, mongoimport.exe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Miscellaneous Tools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bsondump.exe, mongofiles.exe, mongooplog.exe, mongoperf.exe 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12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Set up the MongoDB environment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MongoDB requires a data directory to store all data. MongoDB’s default data directory path is </a:t>
            </a:r>
            <a:r>
              <a:rPr lang="en-US" b="1" dirty="0"/>
              <a:t>\data\db</a:t>
            </a:r>
            <a:r>
              <a:rPr lang="en-US" dirty="0"/>
              <a:t>. </a:t>
            </a:r>
            <a:r>
              <a:rPr lang="en-US" dirty="0" smtClean="0"/>
              <a:t>You </a:t>
            </a:r>
            <a:r>
              <a:rPr lang="en-US" dirty="0"/>
              <a:t>can specify an alternate path for data files using the </a:t>
            </a:r>
            <a:r>
              <a:rPr lang="en-US" b="1" dirty="0"/>
              <a:t>--</a:t>
            </a:r>
            <a:r>
              <a:rPr lang="en-US" b="1" dirty="0" err="1"/>
              <a:t>dbpath</a:t>
            </a:r>
            <a:r>
              <a:rPr lang="en-US" dirty="0"/>
              <a:t> option to </a:t>
            </a:r>
            <a:r>
              <a:rPr lang="en-US" b="1" dirty="0"/>
              <a:t>mongod.exe</a:t>
            </a:r>
            <a:r>
              <a:rPr lang="en-US" dirty="0"/>
              <a:t>, for example:</a:t>
            </a:r>
          </a:p>
          <a:p>
            <a:pPr marL="287338" lvl="1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C:\mongodb\bin\mongod.exe --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dbpath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d:\test\mongodb\data</a:t>
            </a:r>
          </a:p>
          <a:p>
            <a:pPr lvl="1"/>
            <a:r>
              <a:rPr lang="en-US" dirty="0"/>
              <a:t>If your path includes spaces, enclose the entire path in double quotes, for example:</a:t>
            </a:r>
          </a:p>
          <a:p>
            <a:pPr marL="287338" lvl="1" indent="0">
              <a:buNone/>
            </a:pPr>
            <a:r>
              <a:rPr lang="en-US" sz="1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C:\mongodb\bin\mongod.exe --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dbpath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"d:\test\mongo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data“</a:t>
            </a:r>
          </a:p>
          <a:p>
            <a:r>
              <a:rPr lang="en-US" b="1" dirty="0">
                <a:solidFill>
                  <a:schemeClr val="accent2"/>
                </a:solidFill>
              </a:rPr>
              <a:t>Start MongoDB 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1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C:\mongodb\bin\mongod.exe</a:t>
            </a:r>
          </a:p>
          <a:p>
            <a:r>
              <a:rPr lang="en-US" b="1" dirty="0">
                <a:solidFill>
                  <a:schemeClr val="accent2"/>
                </a:solidFill>
              </a:rPr>
              <a:t>Connect to MongoDB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1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C:\mongodb\bin\mongo.exe</a:t>
            </a:r>
            <a:endParaRPr lang="en-US" sz="140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nstallation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06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Create a Windows Service for MongoDB</a:t>
            </a:r>
          </a:p>
          <a:p>
            <a:pPr lvl="1"/>
            <a:r>
              <a:rPr lang="en-US" dirty="0"/>
              <a:t>You can set up the MongoDB server as a Windows Service that starts automatically at boot time.</a:t>
            </a:r>
          </a:p>
          <a:p>
            <a:pPr lvl="1"/>
            <a:r>
              <a:rPr lang="en-US" dirty="0"/>
              <a:t>Open </a:t>
            </a:r>
            <a:r>
              <a:rPr lang="en-US" dirty="0" smtClean="0"/>
              <a:t>a command prompt as administrator.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directories for your database and log files:</a:t>
            </a:r>
          </a:p>
          <a:p>
            <a:pPr marL="287338" lvl="1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c:\data\db</a:t>
            </a:r>
          </a:p>
          <a:p>
            <a:pPr marL="287338" lvl="1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c:\data\log</a:t>
            </a:r>
          </a:p>
          <a:p>
            <a:pPr lvl="1"/>
            <a:r>
              <a:rPr lang="en-US" dirty="0"/>
              <a:t>Create a configuration file</a:t>
            </a:r>
          </a:p>
          <a:p>
            <a:pPr lvl="1"/>
            <a:r>
              <a:rPr lang="en-US" dirty="0"/>
              <a:t>The file must set </a:t>
            </a:r>
            <a:r>
              <a:rPr lang="en-US" dirty="0" err="1"/>
              <a:t>systemLog.path</a:t>
            </a:r>
            <a:r>
              <a:rPr lang="en-US" dirty="0"/>
              <a:t>. Include additional configuration options as appropriate.</a:t>
            </a:r>
          </a:p>
          <a:p>
            <a:pPr lvl="1"/>
            <a:r>
              <a:rPr lang="en-US" dirty="0"/>
              <a:t>For example, create a file at </a:t>
            </a:r>
            <a:r>
              <a:rPr lang="en-US" dirty="0" smtClean="0"/>
              <a:t>“</a:t>
            </a:r>
            <a:r>
              <a:rPr lang="en-US" dirty="0" smtClean="0">
                <a:solidFill>
                  <a:schemeClr val="accent2"/>
                </a:solidFill>
              </a:rPr>
              <a:t>C</a:t>
            </a:r>
            <a:r>
              <a:rPr lang="en-US" dirty="0">
                <a:solidFill>
                  <a:schemeClr val="accent2"/>
                </a:solidFill>
              </a:rPr>
              <a:t>:\</a:t>
            </a:r>
            <a:r>
              <a:rPr lang="en-US" dirty="0" err="1" smtClean="0">
                <a:solidFill>
                  <a:schemeClr val="accent2"/>
                </a:solidFill>
              </a:rPr>
              <a:t>mongodb</a:t>
            </a:r>
            <a:r>
              <a:rPr lang="en-US" dirty="0" smtClean="0">
                <a:solidFill>
                  <a:schemeClr val="accent2"/>
                </a:solidFill>
              </a:rPr>
              <a:t>\</a:t>
            </a:r>
            <a:r>
              <a:rPr lang="en-US" dirty="0" err="1" smtClean="0">
                <a:solidFill>
                  <a:schemeClr val="accent2"/>
                </a:solidFill>
              </a:rPr>
              <a:t>mongod.cfg</a:t>
            </a:r>
            <a:r>
              <a:rPr lang="en-US" dirty="0" smtClean="0"/>
              <a:t>” </a:t>
            </a:r>
            <a:r>
              <a:rPr lang="en-US" dirty="0"/>
              <a:t>that specifies both </a:t>
            </a:r>
            <a:r>
              <a:rPr lang="en-US" dirty="0" err="1"/>
              <a:t>systemLog.path</a:t>
            </a:r>
            <a:r>
              <a:rPr lang="en-US" dirty="0"/>
              <a:t> and </a:t>
            </a:r>
            <a:r>
              <a:rPr lang="en-US" dirty="0" err="1"/>
              <a:t>storage.dbPath</a:t>
            </a:r>
            <a:r>
              <a:rPr lang="en-US" dirty="0"/>
              <a:t>: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nstallation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73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systemLog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destination: file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path: c:\data\log\mongod.log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storage: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dbPath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c:\data\db</a:t>
            </a:r>
          </a:p>
          <a:p>
            <a:r>
              <a:rPr lang="en-US" dirty="0"/>
              <a:t>Create the MongoDB service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sc.exe create MongoDB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binPath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"C:\mongodb\bin\mongod.exe --service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=\"C:\mongodb\mongod.cfg\""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DisplayName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"MongoDB" start= "auto"</a:t>
            </a:r>
          </a:p>
          <a:p>
            <a:r>
              <a:rPr lang="en-US" sz="1400" dirty="0" smtClean="0"/>
              <a:t>Note: sc.exe </a:t>
            </a:r>
            <a:r>
              <a:rPr lang="en-US" sz="1400" dirty="0"/>
              <a:t>requires a space between “=” and the configuration values (</a:t>
            </a:r>
            <a:r>
              <a:rPr lang="en-US" sz="1400" dirty="0" err="1"/>
              <a:t>eg</a:t>
            </a:r>
            <a:r>
              <a:rPr lang="en-US" sz="1400" dirty="0"/>
              <a:t> “</a:t>
            </a:r>
            <a:r>
              <a:rPr lang="en-US" sz="1400" dirty="0" err="1"/>
              <a:t>binPath</a:t>
            </a:r>
            <a:r>
              <a:rPr lang="en-US" sz="1400" dirty="0"/>
              <a:t>= ”), and a “\” to escape double quotes.</a:t>
            </a:r>
            <a:endParaRPr lang="en-US" sz="14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nstallation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1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81" y="2502015"/>
            <a:ext cx="8000920" cy="1021556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Server Coding with </a:t>
            </a:r>
            <a:br>
              <a:rPr lang="en-US" dirty="0" smtClean="0"/>
            </a:br>
            <a:r>
              <a:rPr lang="en-US" sz="2000" dirty="0"/>
              <a:t>Node.js and Express Framework</a:t>
            </a:r>
          </a:p>
        </p:txBody>
      </p:sp>
    </p:spTree>
    <p:extLst>
      <p:ext uri="{BB962C8B-B14F-4D97-AF65-F5344CB8AC3E}">
        <p14:creationId xmlns:p14="http://schemas.microsoft.com/office/powerpoint/2010/main" val="258110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is a platform built on Chrome's </a:t>
            </a:r>
            <a:r>
              <a:rPr lang="en-US" dirty="0" smtClean="0"/>
              <a:t>V8 JavaScript </a:t>
            </a:r>
            <a:r>
              <a:rPr lang="en-US" dirty="0"/>
              <a:t>runtime for easily building fast, scalable network applications.</a:t>
            </a:r>
          </a:p>
          <a:p>
            <a:r>
              <a:rPr lang="en-US" dirty="0"/>
              <a:t>Node.js uses an </a:t>
            </a:r>
            <a:r>
              <a:rPr lang="en-US" b="1" dirty="0">
                <a:solidFill>
                  <a:schemeClr val="accent2"/>
                </a:solidFill>
              </a:rPr>
              <a:t>event-driven, non-blocking I/O </a:t>
            </a:r>
            <a:r>
              <a:rPr lang="en-US" dirty="0"/>
              <a:t>model that makes it lightweight and efficient, perfect for </a:t>
            </a:r>
            <a:r>
              <a:rPr lang="en-US" dirty="0" smtClean="0"/>
              <a:t>data intensive real-time </a:t>
            </a:r>
            <a:r>
              <a:rPr lang="en-US" dirty="0"/>
              <a:t>applications that run across distributed </a:t>
            </a:r>
            <a:r>
              <a:rPr lang="en-US" dirty="0" smtClean="0"/>
              <a:t>devices</a:t>
            </a:r>
            <a:r>
              <a:rPr lang="en-US" dirty="0"/>
              <a:t>.</a:t>
            </a:r>
            <a:endParaRPr lang="en-US" sz="1400" dirty="0"/>
          </a:p>
          <a:p>
            <a:r>
              <a:rPr lang="en-US" b="1" dirty="0">
                <a:solidFill>
                  <a:schemeClr val="accent2"/>
                </a:solidFill>
              </a:rPr>
              <a:t>Single Threaded</a:t>
            </a:r>
          </a:p>
          <a:p>
            <a:r>
              <a:rPr lang="en-US" b="1" dirty="0">
                <a:solidFill>
                  <a:schemeClr val="accent2"/>
                </a:solidFill>
              </a:rPr>
              <a:t>Event Driven</a:t>
            </a:r>
          </a:p>
          <a:p>
            <a:r>
              <a:rPr lang="en-US" dirty="0"/>
              <a:t>Instead of threads Node uses an </a:t>
            </a:r>
            <a:r>
              <a:rPr lang="en-US" b="1" dirty="0">
                <a:solidFill>
                  <a:schemeClr val="accent2"/>
                </a:solidFill>
              </a:rPr>
              <a:t>event loop </a:t>
            </a:r>
            <a:r>
              <a:rPr lang="en-US" dirty="0"/>
              <a:t>with a stack</a:t>
            </a:r>
          </a:p>
          <a:p>
            <a:pPr marL="0" indent="0">
              <a:buNone/>
            </a:pP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node.js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91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applications are built using a lot of library modules.</a:t>
            </a:r>
          </a:p>
          <a:p>
            <a:r>
              <a:rPr lang="en-US" dirty="0"/>
              <a:t>You define a </a:t>
            </a:r>
            <a:r>
              <a:rPr lang="en-US" b="1" dirty="0" err="1">
                <a:solidFill>
                  <a:schemeClr val="accent2"/>
                </a:solidFill>
              </a:rPr>
              <a:t>package.json</a:t>
            </a:r>
            <a:r>
              <a:rPr lang="en-US" dirty="0"/>
              <a:t> file describing your application and all of it’s library dependencies</a:t>
            </a:r>
          </a:p>
          <a:p>
            <a:r>
              <a:rPr lang="en-US" dirty="0"/>
              <a:t>You use the Node.js Package Manager to install a copy of those libraries in a subdirectory of your </a:t>
            </a:r>
            <a:r>
              <a:rPr lang="en-US" dirty="0" smtClean="0"/>
              <a:t>application (</a:t>
            </a:r>
            <a:r>
              <a:rPr lang="en-US" b="1" dirty="0" err="1">
                <a:solidFill>
                  <a:schemeClr val="accent2"/>
                </a:solidFill>
              </a:rPr>
              <a:t>node_modules</a:t>
            </a:r>
            <a:r>
              <a:rPr lang="en-US" b="1" dirty="0">
                <a:solidFill>
                  <a:schemeClr val="accent2"/>
                </a:solidFill>
              </a:rPr>
              <a:t>/</a:t>
            </a:r>
            <a:r>
              <a:rPr lang="en-US" dirty="0"/>
              <a:t>) instead of a system directly (like </a:t>
            </a:r>
            <a:r>
              <a:rPr lang="en-US" b="1" dirty="0">
                <a:solidFill>
                  <a:schemeClr val="accent2"/>
                </a:solidFill>
              </a:rPr>
              <a:t>/</a:t>
            </a:r>
            <a:r>
              <a:rPr lang="en-US" b="1" dirty="0" err="1">
                <a:solidFill>
                  <a:schemeClr val="accent2"/>
                </a:solidFill>
              </a:rPr>
              <a:t>usr</a:t>
            </a:r>
            <a:r>
              <a:rPr lang="en-US" b="1" dirty="0">
                <a:solidFill>
                  <a:schemeClr val="accent2"/>
                </a:solidFill>
              </a:rPr>
              <a:t>/lib</a:t>
            </a:r>
            <a:r>
              <a:rPr lang="en-US" dirty="0"/>
              <a:t>) to avoid the problem of different apps needing </a:t>
            </a:r>
            <a:r>
              <a:rPr lang="en-US" dirty="0" smtClean="0"/>
              <a:t>different and </a:t>
            </a:r>
            <a:r>
              <a:rPr lang="en-US" dirty="0"/>
              <a:t>conflicting library </a:t>
            </a:r>
            <a:r>
              <a:rPr lang="en-US" dirty="0" smtClean="0"/>
              <a:t>versions.</a:t>
            </a:r>
            <a:endParaRPr lang="en-US" dirty="0"/>
          </a:p>
          <a:p>
            <a:r>
              <a:rPr lang="en-US" dirty="0"/>
              <a:t>Run “</a:t>
            </a:r>
            <a:r>
              <a:rPr lang="en-US" b="1" dirty="0" err="1">
                <a:solidFill>
                  <a:schemeClr val="accent2"/>
                </a:solidFill>
              </a:rPr>
              <a:t>npm</a:t>
            </a:r>
            <a:r>
              <a:rPr lang="en-US" b="1" dirty="0">
                <a:solidFill>
                  <a:schemeClr val="accent2"/>
                </a:solidFill>
              </a:rPr>
              <a:t> install</a:t>
            </a:r>
            <a:r>
              <a:rPr lang="en-US" dirty="0"/>
              <a:t>” and it will create the </a:t>
            </a:r>
            <a:r>
              <a:rPr lang="en-US" b="1" dirty="0" err="1">
                <a:solidFill>
                  <a:schemeClr val="accent2"/>
                </a:solidFill>
              </a:rPr>
              <a:t>node_modules</a:t>
            </a:r>
            <a:r>
              <a:rPr lang="en-US" b="1" dirty="0">
                <a:solidFill>
                  <a:schemeClr val="accent2"/>
                </a:solidFill>
              </a:rPr>
              <a:t>/</a:t>
            </a:r>
            <a:r>
              <a:rPr lang="en-US" dirty="0"/>
              <a:t> with all of your required libraries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NPM?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67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</a:t>
            </a:r>
            <a:r>
              <a:rPr lang="en-US" b="1" dirty="0">
                <a:solidFill>
                  <a:schemeClr val="accent2"/>
                </a:solidFill>
              </a:rPr>
              <a:t>Node.js</a:t>
            </a:r>
            <a:r>
              <a:rPr lang="en-US" b="1" dirty="0"/>
              <a:t> </a:t>
            </a:r>
            <a:r>
              <a:rPr lang="en-US" dirty="0"/>
              <a:t>from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nodejs.org/en/download/</a:t>
            </a:r>
            <a:endParaRPr lang="en-US" dirty="0"/>
          </a:p>
          <a:p>
            <a:r>
              <a:rPr lang="en-US" dirty="0" smtClean="0"/>
              <a:t>Run </a:t>
            </a:r>
            <a:r>
              <a:rPr lang="en-US" dirty="0"/>
              <a:t>the installer, A set of screens will appear to guide you through the installation process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</a:t>
            </a:r>
            <a:r>
              <a:rPr lang="en-US" dirty="0"/>
              <a:t>check open </a:t>
            </a:r>
            <a:r>
              <a:rPr lang="en-US" dirty="0" err="1"/>
              <a:t>cmd</a:t>
            </a:r>
            <a:r>
              <a:rPr lang="en-US" dirty="0"/>
              <a:t> and type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node –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</a:p>
          <a:p>
            <a:r>
              <a:rPr lang="en-US" dirty="0" smtClean="0"/>
              <a:t>it </a:t>
            </a:r>
            <a:r>
              <a:rPr lang="en-US" dirty="0"/>
              <a:t>will return installed </a:t>
            </a:r>
            <a:r>
              <a:rPr lang="en-US" b="1" dirty="0" smtClean="0">
                <a:solidFill>
                  <a:schemeClr val="accent2"/>
                </a:solidFill>
              </a:rPr>
              <a:t>node.js</a:t>
            </a:r>
            <a:r>
              <a:rPr lang="en-US" dirty="0" smtClean="0"/>
              <a:t> </a:t>
            </a:r>
            <a:r>
              <a:rPr lang="en-US" dirty="0"/>
              <a:t>version.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 installation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09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is a minimal and flexible Node.js web </a:t>
            </a:r>
            <a:r>
              <a:rPr lang="en-US" dirty="0" smtClean="0"/>
              <a:t>application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framework that provides a robust set of features for web and</a:t>
            </a:r>
            <a:br>
              <a:rPr lang="en-US" dirty="0"/>
            </a:br>
            <a:r>
              <a:rPr lang="en-US" dirty="0"/>
              <a:t>mobile applications</a:t>
            </a:r>
            <a:r>
              <a:rPr lang="en-US" dirty="0" smtClean="0"/>
              <a:t>.</a:t>
            </a:r>
          </a:p>
          <a:p>
            <a:r>
              <a:rPr lang="en-US" dirty="0"/>
              <a:t>It is used for easier creation of web applications and services</a:t>
            </a:r>
          </a:p>
          <a:p>
            <a:r>
              <a:rPr lang="en-US" dirty="0"/>
              <a:t>Express.js simplifies development and makes it easier to write secure, modular and </a:t>
            </a:r>
            <a:r>
              <a:rPr lang="en-US"/>
              <a:t>fast </a:t>
            </a:r>
            <a:r>
              <a:rPr lang="en-US" smtClean="0"/>
              <a:t>applications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Express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33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</a:t>
            </a:r>
            <a:r>
              <a:rPr lang="en-US" dirty="0" smtClean="0"/>
              <a:t>Setup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6714" y="866539"/>
            <a:ext cx="8243886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//Create directory </a:t>
            </a:r>
            <a:r>
              <a:rPr lang="en-US" b="1" dirty="0" err="1" smtClean="0">
                <a:solidFill>
                  <a:srgbClr val="008000"/>
                </a:solidFill>
                <a:latin typeface="Courier New" panose="02070309020205020404" pitchFamily="49" charset="0"/>
              </a:rPr>
              <a:t>meanstack-blogapp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for application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mkdir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meanstack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blog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Locate to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directory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cd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meanstack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blog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Install express-generator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globally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npm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install express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generator –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g</a:t>
            </a: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Create express application with handlebar template at current location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express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--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hbs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//generate app in current directory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npm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install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Install dependencies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Run app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smtClean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mtClean="0">
                <a:solidFill>
                  <a:srgbClr val="000000"/>
                </a:solidFill>
                <a:latin typeface="Courier New" panose="02070309020205020404" pitchFamily="49" charset="0"/>
              </a:rPr>
              <a:t>npm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start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//Then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load </a:t>
            </a:r>
            <a:r>
              <a:rPr lang="en-US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http://localhost:3000/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 in your browser to access the app. </a:t>
            </a: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853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 Structure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2" y="857250"/>
            <a:ext cx="7112649" cy="3998913"/>
          </a:xfrm>
        </p:spPr>
      </p:pic>
    </p:spTree>
    <p:extLst>
      <p:ext uri="{BB962C8B-B14F-4D97-AF65-F5344CB8AC3E}">
        <p14:creationId xmlns:p14="http://schemas.microsoft.com/office/powerpoint/2010/main" val="244042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MongoDB connection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6714" y="971550"/>
            <a:ext cx="8167686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//Install </a:t>
            </a:r>
            <a:r>
              <a:rPr lang="en-US" dirty="0" err="1">
                <a:solidFill>
                  <a:srgbClr val="008000"/>
                </a:solidFill>
                <a:latin typeface="Courier New" panose="02070309020205020404" pitchFamily="49" charset="0"/>
              </a:rPr>
              <a:t>MongoDb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driver 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npm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install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mongodb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–save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Update app.js to import </a:t>
            </a:r>
            <a:r>
              <a:rPr lang="en-US" dirty="0" err="1">
                <a:solidFill>
                  <a:srgbClr val="008000"/>
                </a:solidFill>
                <a:latin typeface="Courier New" panose="02070309020205020404" pitchFamily="49" charset="0"/>
              </a:rPr>
              <a:t>mongodb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module and initialize </a:t>
            </a:r>
            <a:r>
              <a:rPr lang="en-US" dirty="0" err="1" smtClean="0">
                <a:solidFill>
                  <a:srgbClr val="008000"/>
                </a:solidFill>
                <a:latin typeface="Courier New" panose="02070309020205020404" pitchFamily="49" charset="0"/>
              </a:rPr>
              <a:t>MongoClient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Mongo </a:t>
            </a:r>
            <a:r>
              <a:rPr lang="en-US" dirty="0" err="1">
                <a:solidFill>
                  <a:srgbClr val="008000"/>
                </a:solidFill>
                <a:latin typeface="Courier New" panose="02070309020205020404" pitchFamily="49" charset="0"/>
              </a:rPr>
              <a:t>Db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Connection 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var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MongoClient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require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808080"/>
                </a:solidFill>
                <a:latin typeface="Courier New" panose="02070309020205020404" pitchFamily="49" charset="0"/>
              </a:rPr>
              <a:t>mongodb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MongoClient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Connection URL 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var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url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u="sng" dirty="0" err="1">
                <a:solidFill>
                  <a:srgbClr val="808080"/>
                </a:solidFill>
                <a:latin typeface="Courier New" panose="02070309020205020404" pitchFamily="49" charset="0"/>
              </a:rPr>
              <a:t>mongodb</a:t>
            </a:r>
            <a:r>
              <a:rPr lang="en-US" u="sng" dirty="0">
                <a:solidFill>
                  <a:srgbClr val="808080"/>
                </a:solidFill>
                <a:latin typeface="Courier New" panose="02070309020205020404" pitchFamily="49" charset="0"/>
              </a:rPr>
              <a:t>://localhost:27017/blog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493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MongoDB connection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6714" y="971550"/>
            <a:ext cx="8091486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// Make our </a:t>
            </a:r>
            <a:r>
              <a:rPr lang="en-US" dirty="0" err="1">
                <a:solidFill>
                  <a:srgbClr val="008000"/>
                </a:solidFill>
                <a:latin typeface="Courier New" panose="02070309020205020404" pitchFamily="49" charset="0"/>
              </a:rPr>
              <a:t>db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accessible to our router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app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res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next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Use connect method to connect to the Server  </a:t>
            </a:r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        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MongoClient</a:t>
            </a:r>
            <a:r>
              <a:rPr lang="en-US" b="1" dirty="0" err="1" smtClean="0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connect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url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err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	 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err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console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log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null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err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	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console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log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"Connected </a:t>
            </a:r>
            <a:r>
              <a:rPr lang="en-US" dirty="0" smtClean="0">
                <a:solidFill>
                  <a:srgbClr val="808080"/>
                </a:solidFill>
                <a:latin typeface="Courier New" panose="02070309020205020404" pitchFamily="49" charset="0"/>
              </a:rPr>
              <a:t>to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server"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req</a:t>
            </a:r>
            <a:r>
              <a:rPr lang="en-US" b="1" dirty="0" err="1" smtClean="0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db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next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	});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});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367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app.use</a:t>
            </a:r>
            <a:r>
              <a:rPr lang="en-US" dirty="0"/>
              <a:t> statements are establishing middleware for </a:t>
            </a:r>
            <a:r>
              <a:rPr lang="en-US" dirty="0" smtClean="0"/>
              <a:t>Express.</a:t>
            </a:r>
          </a:p>
          <a:p>
            <a:r>
              <a:rPr lang="en-US" dirty="0" smtClean="0"/>
              <a:t>The </a:t>
            </a:r>
            <a:r>
              <a:rPr lang="en-US" dirty="0"/>
              <a:t>short, simple explanation is: they're providing custom functions that the rest of your app can make use of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runs before our route definitions, so that they can make use of 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By adding this function to </a:t>
            </a:r>
            <a:r>
              <a:rPr lang="en-US" dirty="0" err="1" smtClean="0"/>
              <a:t>app.use</a:t>
            </a:r>
            <a:r>
              <a:rPr lang="en-US" dirty="0" smtClean="0"/>
              <a:t>, we're adding </a:t>
            </a:r>
            <a:r>
              <a:rPr lang="en-US" dirty="0" err="1" smtClean="0"/>
              <a:t>db</a:t>
            </a:r>
            <a:r>
              <a:rPr lang="en-US" dirty="0" smtClean="0"/>
              <a:t> object to every HTTP request (</a:t>
            </a:r>
            <a:r>
              <a:rPr lang="en-US" dirty="0" err="1" smtClean="0"/>
              <a:t>ie</a:t>
            </a:r>
            <a:r>
              <a:rPr lang="en-US" dirty="0" smtClean="0"/>
              <a:t>: "</a:t>
            </a:r>
            <a:r>
              <a:rPr lang="en-US" dirty="0" err="1" smtClean="0"/>
              <a:t>req</a:t>
            </a:r>
            <a:r>
              <a:rPr lang="en-US" dirty="0" smtClean="0"/>
              <a:t>") our app makes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14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- API </a:t>
            </a:r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564902"/>
              </p:ext>
            </p:extLst>
          </p:nvPr>
        </p:nvGraphicFramePr>
        <p:xfrm>
          <a:off x="533400" y="1657350"/>
          <a:ext cx="8229599" cy="2587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0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9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URL</a:t>
                      </a:r>
                      <a:endParaRPr lang="en-US" sz="1400" dirty="0"/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METHOD</a:t>
                      </a:r>
                      <a:endParaRPr lang="en-US" sz="1400" dirty="0"/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PARAMS</a:t>
                      </a:r>
                      <a:endParaRPr lang="en-US" sz="1400" dirty="0"/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RESPONSE</a:t>
                      </a:r>
                      <a:endParaRPr lang="en-US" sz="1400" dirty="0"/>
                    </a:p>
                  </a:txBody>
                  <a:tcPr marL="101050" marR="101050" marT="50525" marB="50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406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/user/register</a:t>
                      </a:r>
                      <a:endParaRPr lang="en-US" sz="1200" dirty="0"/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POST</a:t>
                      </a:r>
                      <a:endParaRPr lang="en-US" sz="1200" dirty="0"/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"username" : "",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"password" : "",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emai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":""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"status":"", "message":""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01050" marR="101050" marT="50525" marB="505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61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/user/login</a:t>
                      </a:r>
                      <a:endParaRPr lang="en-US" sz="1200" dirty="0"/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POST</a:t>
                      </a:r>
                      <a:endParaRPr lang="en-US" sz="1200" dirty="0"/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username : "",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password : ""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01050" marR="101050" marT="50525" marB="50525"/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"status":"",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"data":{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":"",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email_id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":""}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01050" marR="101050" marT="50525" marB="505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1200150"/>
            <a:ext cx="10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User 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9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- API </a:t>
            </a:r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032" y="895350"/>
            <a:ext cx="1937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BLOG POST </a:t>
            </a:r>
            <a:r>
              <a:rPr lang="en-US" dirty="0" smtClean="0"/>
              <a:t>API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582487"/>
              </p:ext>
            </p:extLst>
          </p:nvPr>
        </p:nvGraphicFramePr>
        <p:xfrm>
          <a:off x="457200" y="1269877"/>
          <a:ext cx="8153400" cy="3507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0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37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URL</a:t>
                      </a:r>
                      <a:endParaRPr lang="en-US" sz="14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METHOD</a:t>
                      </a:r>
                      <a:endParaRPr lang="en-US" sz="14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PARAMS/DATA</a:t>
                      </a:r>
                      <a:endParaRPr lang="en-US" sz="14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REAPONSE</a:t>
                      </a:r>
                      <a:endParaRPr lang="en-US" sz="1400" dirty="0"/>
                    </a:p>
                  </a:txBody>
                  <a:tcPr marL="21867" marR="21867" marT="10934" marB="109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80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/blog/post/list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GET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{}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</a:t>
                      </a:r>
                      <a:b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</a:b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_id":"", 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"title":"", "description":"", 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":"", "comments":[{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"comment":"",                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":"}] 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12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/blog/post/add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POST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{"title":"", "description":"", 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":"", "comments":[{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"comment":"",                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":"}]}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"status":"", "message":""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21867" marR="21867" marT="10934" marB="109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89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/blog/post/comment/add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POST</a:t>
                      </a:r>
                      <a:endParaRPr lang="en-US" sz="1200" dirty="0"/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post_id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":"",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user_id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":"",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"comment" : ""}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21867" marR="21867" marT="10934" marB="10934"/>
                </a:tc>
                <a:tc>
                  <a:txBody>
                    <a:bodyPr/>
                    <a:lstStyle/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"status":"", "message":""</a:t>
                      </a:r>
                    </a:p>
                    <a:p>
                      <a:pPr marL="0" marR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}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21867" marR="21867" marT="10934" marB="109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85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6713" y="2571750"/>
            <a:ext cx="8270873" cy="2314935"/>
          </a:xfrm>
        </p:spPr>
        <p:txBody>
          <a:bodyPr/>
          <a:lstStyle/>
          <a:p>
            <a:r>
              <a:rPr lang="en-US" b="1" dirty="0" err="1"/>
              <a:t>req.body</a:t>
            </a:r>
            <a:r>
              <a:rPr lang="en-US" b="1" dirty="0"/>
              <a:t> : </a:t>
            </a:r>
            <a:r>
              <a:rPr lang="en-US" dirty="0"/>
              <a:t>Contains key-value pairs of data submitted in the request </a:t>
            </a:r>
            <a:r>
              <a:rPr lang="en-US" dirty="0" smtClean="0"/>
              <a:t>body.</a:t>
            </a:r>
            <a:endParaRPr lang="en-US" dirty="0"/>
          </a:p>
          <a:p>
            <a:r>
              <a:rPr lang="en-US" b="1" dirty="0" err="1" smtClean="0"/>
              <a:t>req.params</a:t>
            </a:r>
            <a:r>
              <a:rPr lang="en-US" b="1" dirty="0" smtClean="0"/>
              <a:t> </a:t>
            </a:r>
            <a:r>
              <a:rPr lang="en-US" b="1" dirty="0"/>
              <a:t>: </a:t>
            </a:r>
            <a:r>
              <a:rPr lang="en-US" dirty="0"/>
              <a:t>An object containing properties mapped to the named route “parameters</a:t>
            </a:r>
            <a:r>
              <a:rPr lang="en-US" dirty="0" smtClean="0"/>
              <a:t>”.</a:t>
            </a:r>
            <a:endParaRPr lang="en-US" dirty="0"/>
          </a:p>
          <a:p>
            <a:r>
              <a:rPr lang="en-US" b="1" dirty="0" err="1" smtClean="0"/>
              <a:t>req.query</a:t>
            </a:r>
            <a:r>
              <a:rPr lang="en-US" b="1" dirty="0" smtClean="0"/>
              <a:t> </a:t>
            </a:r>
            <a:r>
              <a:rPr lang="en-US" b="1" dirty="0"/>
              <a:t>: </a:t>
            </a:r>
            <a:r>
              <a:rPr lang="en-US" dirty="0"/>
              <a:t>An object containing a property for each query string parameter in the route. If there is no query </a:t>
            </a:r>
            <a:r>
              <a:rPr lang="en-US" dirty="0" smtClean="0"/>
              <a:t>string, it </a:t>
            </a:r>
            <a:r>
              <a:rPr lang="en-US" dirty="0"/>
              <a:t>is the empty object, </a:t>
            </a:r>
            <a:r>
              <a:rPr lang="en-US" dirty="0" smtClean="0"/>
              <a:t>{}.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- API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6713" y="835789"/>
            <a:ext cx="8270873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express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require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'express'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router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Router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Router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.[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HTTP METHOD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‘relative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url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handler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res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next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Example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router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post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'/user/register'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res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next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router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'/post/list'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res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next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});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307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Frontend code with Angular 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5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Angular JS is an open source web-application framework, specially designed for single-page web application </a:t>
            </a:r>
            <a:r>
              <a:rPr lang="en-US" dirty="0" smtClean="0"/>
              <a:t>well maintained </a:t>
            </a:r>
            <a:r>
              <a:rPr lang="en-US" dirty="0"/>
              <a:t>by Google.</a:t>
            </a:r>
          </a:p>
          <a:p>
            <a:r>
              <a:rPr lang="en-US" dirty="0"/>
              <a:t>Open source</a:t>
            </a:r>
          </a:p>
          <a:p>
            <a:r>
              <a:rPr lang="en-US" dirty="0"/>
              <a:t>Framework not a library</a:t>
            </a:r>
          </a:p>
          <a:p>
            <a:r>
              <a:rPr lang="en-US" dirty="0"/>
              <a:t>Uses </a:t>
            </a:r>
            <a:r>
              <a:rPr lang="en-US" dirty="0" err="1"/>
              <a:t>jQuery’s</a:t>
            </a:r>
            <a:r>
              <a:rPr lang="en-US" dirty="0"/>
              <a:t> </a:t>
            </a:r>
            <a:r>
              <a:rPr lang="en-US" dirty="0" err="1"/>
              <a:t>jQlite</a:t>
            </a:r>
            <a:endParaRPr lang="en-US" dirty="0"/>
          </a:p>
          <a:p>
            <a:r>
              <a:rPr lang="en-US" dirty="0"/>
              <a:t>Contains everything you need for SPA</a:t>
            </a:r>
          </a:p>
          <a:p>
            <a:r>
              <a:rPr lang="en-US" dirty="0"/>
              <a:t>Broken into components Controllers, view, models, services,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MVC/MVVM Framework</a:t>
            </a:r>
          </a:p>
          <a:p>
            <a:r>
              <a:rPr lang="en-US" dirty="0"/>
              <a:t>Two Way Data binding</a:t>
            </a:r>
          </a:p>
          <a:p>
            <a:r>
              <a:rPr lang="en-US" dirty="0"/>
              <a:t>Enables test friendly 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title style (Arial - 28pt - Bold)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96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Module :</a:t>
            </a:r>
            <a:r>
              <a:rPr lang="en-US" dirty="0"/>
              <a:t> A module is a collection of services, directives, controllers, filters, and configuration information.</a:t>
            </a:r>
          </a:p>
          <a:p>
            <a:r>
              <a:rPr lang="en-US" b="1" dirty="0">
                <a:solidFill>
                  <a:schemeClr val="accent2"/>
                </a:solidFill>
              </a:rPr>
              <a:t>Scope :</a:t>
            </a:r>
            <a:r>
              <a:rPr lang="en-US" dirty="0"/>
              <a:t> A Scope is an object that refers to the application model. It is an execution context for expressions. Scopes </a:t>
            </a:r>
            <a:r>
              <a:rPr lang="en-US" dirty="0" smtClean="0"/>
              <a:t>are arranged </a:t>
            </a:r>
            <a:r>
              <a:rPr lang="en-US" dirty="0"/>
              <a:t>in hierarchical structure which mimic the DOM structure of the application. Scopes can watch </a:t>
            </a:r>
            <a:r>
              <a:rPr lang="en-US" dirty="0" smtClean="0"/>
              <a:t>expressions and </a:t>
            </a:r>
            <a:r>
              <a:rPr lang="en-US" dirty="0"/>
              <a:t>propagate events.</a:t>
            </a:r>
          </a:p>
          <a:p>
            <a:r>
              <a:rPr lang="en-US" b="1" dirty="0">
                <a:solidFill>
                  <a:schemeClr val="accent2"/>
                </a:solidFill>
              </a:rPr>
              <a:t>Controller :</a:t>
            </a:r>
            <a:r>
              <a:rPr lang="en-US" dirty="0"/>
              <a:t> A Controller is a JavaScript constructor function that operates the Angular Scope. When a Controller </a:t>
            </a:r>
            <a:r>
              <a:rPr lang="en-US" dirty="0" smtClean="0"/>
              <a:t>is attached </a:t>
            </a:r>
            <a:r>
              <a:rPr lang="en-US" dirty="0"/>
              <a:t>to the DOM via the </a:t>
            </a:r>
            <a:r>
              <a:rPr lang="en-US" dirty="0" err="1"/>
              <a:t>ng</a:t>
            </a:r>
            <a:r>
              <a:rPr lang="en-US" dirty="0"/>
              <a:t>-controller directive, Angular will instantiate a new Controller object, using the </a:t>
            </a:r>
            <a:r>
              <a:rPr lang="en-US" dirty="0" smtClean="0"/>
              <a:t>specified Controller's </a:t>
            </a:r>
            <a:r>
              <a:rPr lang="en-US" dirty="0"/>
              <a:t>constructor function. A new child scope will be created and made available as an injectable parameter </a:t>
            </a:r>
            <a:r>
              <a:rPr lang="en-US" dirty="0" smtClean="0"/>
              <a:t>to the </a:t>
            </a:r>
            <a:r>
              <a:rPr lang="en-US" dirty="0"/>
              <a:t>Controller's constructor function as $scope</a:t>
            </a:r>
            <a:r>
              <a:rPr lang="en-US" dirty="0" smtClean="0"/>
              <a:t>. </a:t>
            </a:r>
            <a:r>
              <a:rPr lang="en-US" dirty="0"/>
              <a:t>own filter.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Angular Components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64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</a:rPr>
              <a:t>Directives </a:t>
            </a:r>
            <a:r>
              <a:rPr lang="en-US" b="1" dirty="0">
                <a:solidFill>
                  <a:schemeClr val="accent2"/>
                </a:solidFill>
              </a:rPr>
              <a:t>:</a:t>
            </a:r>
            <a:r>
              <a:rPr lang="en-US" dirty="0"/>
              <a:t> Directives are markers on a DOM element which attach a special behavior to it. Examples of directives </a:t>
            </a:r>
            <a:r>
              <a:rPr lang="en-US" dirty="0" smtClean="0"/>
              <a:t>are the </a:t>
            </a:r>
            <a:r>
              <a:rPr lang="en-US" dirty="0"/>
              <a:t>interpolation directive ( {{ }} ), the </a:t>
            </a:r>
            <a:r>
              <a:rPr lang="en-US" dirty="0" err="1"/>
              <a:t>ng</a:t>
            </a:r>
            <a:r>
              <a:rPr lang="en-US" dirty="0"/>
              <a:t>-repeat directive and </a:t>
            </a:r>
            <a:r>
              <a:rPr lang="en-US" dirty="0" err="1"/>
              <a:t>ng</a:t>
            </a:r>
            <a:r>
              <a:rPr lang="en-US" dirty="0"/>
              <a:t>-if directive.</a:t>
            </a:r>
          </a:p>
          <a:p>
            <a:r>
              <a:rPr lang="en-US" b="1" dirty="0">
                <a:solidFill>
                  <a:schemeClr val="accent2"/>
                </a:solidFill>
              </a:rPr>
              <a:t>Filter : </a:t>
            </a:r>
            <a:r>
              <a:rPr lang="en-US" dirty="0"/>
              <a:t>A filter formats the value of an expression for display to the user. They can be used in view templates</a:t>
            </a:r>
            <a:r>
              <a:rPr lang="en-US" dirty="0" smtClean="0"/>
              <a:t>, controllers </a:t>
            </a:r>
            <a:r>
              <a:rPr lang="en-US" dirty="0"/>
              <a:t>or services and it is easy to define your own filter.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</a:t>
            </a:r>
            <a:r>
              <a:rPr lang="en-US" dirty="0" err="1"/>
              <a:t>js</a:t>
            </a:r>
            <a:r>
              <a:rPr lang="en-US" dirty="0"/>
              <a:t> -Angular </a:t>
            </a:r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89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client directory in main application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client</a:t>
            </a:r>
          </a:p>
          <a:p>
            <a:r>
              <a:rPr lang="en-US" dirty="0" smtClean="0"/>
              <a:t> </a:t>
            </a:r>
            <a:r>
              <a:rPr lang="en-US" b="1" dirty="0">
                <a:solidFill>
                  <a:schemeClr val="accent2"/>
                </a:solidFill>
              </a:rPr>
              <a:t>Bower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package manager for the web</a:t>
            </a:r>
          </a:p>
          <a:p>
            <a:pPr lvl="1"/>
            <a:r>
              <a:rPr lang="en-US" dirty="0"/>
              <a:t>Install bower globally : </a:t>
            </a:r>
            <a:endParaRPr lang="en-US" dirty="0" smtClean="0"/>
          </a:p>
          <a:p>
            <a:pPr marL="287338" lvl="1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install bower -g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Bootstrap</a:t>
            </a:r>
          </a:p>
          <a:p>
            <a:pPr lvl="1"/>
            <a:r>
              <a:rPr lang="en-US" dirty="0"/>
              <a:t>Bootstrap is the most popular HTML, CSS, and JS framework for developing responsive, mobile first projects on </a:t>
            </a:r>
            <a:r>
              <a:rPr lang="en-US" dirty="0" smtClean="0"/>
              <a:t>the web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 bower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install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bootstrap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development – Code </a:t>
            </a:r>
            <a:r>
              <a:rPr lang="en-US" dirty="0" smtClean="0"/>
              <a:t>Setup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81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Angular</a:t>
            </a:r>
          </a:p>
          <a:p>
            <a:pPr lvl="1"/>
            <a:r>
              <a:rPr lang="en-US" dirty="0" err="1"/>
              <a:t>AngularJS</a:t>
            </a:r>
            <a:r>
              <a:rPr lang="en-US" dirty="0"/>
              <a:t> is a structural framework for dynamic web apps.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bower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install angular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bower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install angular-route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development – Code </a:t>
            </a:r>
            <a:r>
              <a:rPr lang="en-US" dirty="0" smtClean="0"/>
              <a:t>Setup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60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file app.js in path client/</a:t>
            </a:r>
            <a:r>
              <a:rPr lang="en-US" dirty="0" err="1"/>
              <a:t>js</a:t>
            </a:r>
            <a:r>
              <a:rPr lang="en-US" dirty="0"/>
              <a:t>/.</a:t>
            </a:r>
          </a:p>
          <a:p>
            <a:r>
              <a:rPr lang="en-US" dirty="0"/>
              <a:t>Create module </a:t>
            </a:r>
            <a:r>
              <a:rPr lang="en-US" dirty="0" err="1"/>
              <a:t>BlogAPP</a:t>
            </a:r>
            <a:r>
              <a:rPr lang="en-US" dirty="0"/>
              <a:t> using angular module with </a:t>
            </a:r>
            <a:r>
              <a:rPr lang="en-US" dirty="0" err="1"/>
              <a:t>ngRoute</a:t>
            </a:r>
            <a:r>
              <a:rPr lang="en-US" dirty="0"/>
              <a:t> as dependency for route control.</a:t>
            </a:r>
          </a:p>
          <a:p>
            <a:r>
              <a:rPr lang="en-US" dirty="0"/>
              <a:t>Create </a:t>
            </a:r>
            <a:r>
              <a:rPr lang="en-US" dirty="0" err="1"/>
              <a:t>UserService</a:t>
            </a:r>
            <a:r>
              <a:rPr lang="en-US" dirty="0"/>
              <a:t> with login and signup method to call corresponding API.</a:t>
            </a:r>
          </a:p>
          <a:p>
            <a:r>
              <a:rPr lang="en-US" dirty="0" smtClean="0"/>
              <a:t>Generate </a:t>
            </a:r>
            <a:r>
              <a:rPr lang="en-US" dirty="0" err="1" smtClean="0"/>
              <a:t>config</a:t>
            </a:r>
            <a:r>
              <a:rPr lang="en-US" dirty="0" smtClean="0"/>
              <a:t> add following functionality using controller and $</a:t>
            </a:r>
            <a:r>
              <a:rPr lang="en-US" dirty="0" err="1" smtClean="0"/>
              <a:t>rootProvider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development – </a:t>
            </a:r>
            <a:r>
              <a:rPr lang="en-US" dirty="0" smtClean="0"/>
              <a:t>USER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6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development – </a:t>
            </a:r>
            <a:r>
              <a:rPr lang="en-US" dirty="0" smtClean="0"/>
              <a:t>USER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976387"/>
              </p:ext>
            </p:extLst>
          </p:nvPr>
        </p:nvGraphicFramePr>
        <p:xfrm>
          <a:off x="457200" y="2448862"/>
          <a:ext cx="81392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3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Route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Controller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View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MainController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views/home.html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/user/signup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SignupController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views/register.html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/user/login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LoginController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views/login.html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/user/logout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LogoutController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66717" y="857253"/>
            <a:ext cx="8485187" cy="495298"/>
          </a:xfrm>
        </p:spPr>
        <p:txBody>
          <a:bodyPr/>
          <a:lstStyle/>
          <a:p>
            <a:r>
              <a:rPr lang="en-US" dirty="0" smtClean="0"/>
              <a:t>Below are the functionality need to develop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66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b="1" dirty="0" err="1">
                <a:solidFill>
                  <a:schemeClr val="accent2"/>
                </a:solidFill>
              </a:rPr>
              <a:t>PostService</a:t>
            </a:r>
            <a:r>
              <a:rPr lang="en-US" dirty="0"/>
              <a:t> with following method to call corresponding API.</a:t>
            </a:r>
          </a:p>
          <a:p>
            <a:pPr lvl="1"/>
            <a:r>
              <a:rPr lang="en-US" sz="2000" b="1" dirty="0">
                <a:solidFill>
                  <a:schemeClr val="accent2"/>
                </a:solidFill>
              </a:rPr>
              <a:t>list: </a:t>
            </a:r>
            <a:r>
              <a:rPr lang="en-US" dirty="0"/>
              <a:t>to get all posts</a:t>
            </a:r>
          </a:p>
          <a:p>
            <a:pPr lvl="1"/>
            <a:r>
              <a:rPr lang="en-US" sz="2000" b="1" dirty="0" err="1">
                <a:solidFill>
                  <a:schemeClr val="accent2"/>
                </a:solidFill>
              </a:rPr>
              <a:t>byId</a:t>
            </a:r>
            <a:r>
              <a:rPr lang="en-US" sz="2000" b="1" dirty="0">
                <a:solidFill>
                  <a:schemeClr val="accent2"/>
                </a:solidFill>
              </a:rPr>
              <a:t>: </a:t>
            </a:r>
            <a:r>
              <a:rPr lang="en-US" dirty="0"/>
              <a:t>to get post by post id</a:t>
            </a:r>
          </a:p>
          <a:p>
            <a:pPr lvl="1"/>
            <a:r>
              <a:rPr lang="en-US" sz="2000" b="1" dirty="0">
                <a:solidFill>
                  <a:schemeClr val="accent2"/>
                </a:solidFill>
              </a:rPr>
              <a:t>add:</a:t>
            </a:r>
            <a:r>
              <a:rPr lang="en-US" dirty="0"/>
              <a:t> to add post</a:t>
            </a:r>
          </a:p>
          <a:p>
            <a:pPr lvl="1"/>
            <a:r>
              <a:rPr lang="en-US" sz="2000" b="1" dirty="0">
                <a:solidFill>
                  <a:schemeClr val="accent2"/>
                </a:solidFill>
              </a:rPr>
              <a:t>comment : </a:t>
            </a:r>
            <a:r>
              <a:rPr lang="en-US" dirty="0"/>
              <a:t>to add comment</a:t>
            </a:r>
          </a:p>
          <a:p>
            <a:r>
              <a:rPr lang="en-US" dirty="0" smtClean="0"/>
              <a:t>Update </a:t>
            </a:r>
            <a:r>
              <a:rPr lang="en-US" dirty="0" err="1" smtClean="0"/>
              <a:t>config</a:t>
            </a:r>
            <a:r>
              <a:rPr lang="en-US" dirty="0" smtClean="0"/>
              <a:t> to add following functionality.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development – Blog </a:t>
            </a:r>
            <a:r>
              <a:rPr lang="en-US" dirty="0" smtClean="0"/>
              <a:t>POST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114163"/>
              </p:ext>
            </p:extLst>
          </p:nvPr>
        </p:nvGraphicFramePr>
        <p:xfrm>
          <a:off x="457200" y="3333750"/>
          <a:ext cx="8229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Route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Controller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View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/post/id/:id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SignupController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views/register.html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/post/add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LoginController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views/login.html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41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Output – Home </a:t>
            </a:r>
            <a:r>
              <a:rPr lang="en-US" dirty="0" smtClean="0"/>
              <a:t>Page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52" y="1123950"/>
            <a:ext cx="7943692" cy="3276600"/>
          </a:xfrm>
        </p:spPr>
      </p:pic>
    </p:spTree>
    <p:extLst>
      <p:ext uri="{BB962C8B-B14F-4D97-AF65-F5344CB8AC3E}">
        <p14:creationId xmlns:p14="http://schemas.microsoft.com/office/powerpoint/2010/main" val="248141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Output – Blog Detail </a:t>
            </a:r>
            <a:r>
              <a:rPr lang="en-US" dirty="0" smtClean="0"/>
              <a:t>Pag</a:t>
            </a:r>
            <a:r>
              <a:rPr lang="en-US" dirty="0"/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4886685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25 years of bringing software to life and life to software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32" y="971549"/>
            <a:ext cx="8135468" cy="3734313"/>
          </a:xfrm>
        </p:spPr>
      </p:pic>
    </p:spTree>
    <p:extLst>
      <p:ext uri="{BB962C8B-B14F-4D97-AF65-F5344CB8AC3E}">
        <p14:creationId xmlns:p14="http://schemas.microsoft.com/office/powerpoint/2010/main" val="147559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Contact Us</a:t>
            </a:r>
            <a:endParaRPr lang="en-US" dirty="0"/>
          </a:p>
        </p:txBody>
      </p:sp>
      <p:sp>
        <p:nvSpPr>
          <p:cNvPr id="4" name="Subtitle 4"/>
          <p:cNvSpPr txBox="1">
            <a:spLocks/>
          </p:cNvSpPr>
          <p:nvPr/>
        </p:nvSpPr>
        <p:spPr>
          <a:xfrm>
            <a:off x="5029203" y="2909889"/>
            <a:ext cx="3776663" cy="423863"/>
          </a:xfrm>
          <a:prstGeom prst="rect">
            <a:avLst/>
          </a:prstGeom>
        </p:spPr>
        <p:txBody>
          <a:bodyPr/>
          <a:lstStyle>
            <a:lvl1pPr marL="231775" indent="-23177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899"/>
              </a:buClr>
              <a:buFont typeface="Wingdings 2" pitchFamily="18" charset="2"/>
              <a:buChar char=""/>
              <a:defRPr sz="20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  <a:lvl2pPr marL="573088" indent="-23177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 2" pitchFamily="18" charset="2"/>
              <a:buChar char=""/>
              <a:defRPr sz="18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2pPr>
            <a:lvl3pPr marL="914400" indent="-23177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3"/>
              </a:buClr>
              <a:buFont typeface="Wingdings 2" pitchFamily="18" charset="2"/>
              <a:buChar char=""/>
              <a:defRPr sz="16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3pPr>
            <a:lvl4pPr marL="1195388" indent="-1714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4"/>
              </a:buClr>
              <a:buFont typeface="Wingdings 2" pitchFamily="18" charset="2"/>
              <a:buChar char=""/>
              <a:defRPr sz="14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4pPr>
            <a:lvl5pPr marL="1377950" indent="-122238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Persistent Systems Inc.</a:t>
            </a:r>
          </a:p>
          <a:p>
            <a:pPr marL="0" indent="0">
              <a:buNone/>
            </a:pPr>
            <a:r>
              <a:rPr lang="en-US" sz="1600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2055 </a:t>
            </a:r>
            <a:r>
              <a:rPr lang="en-US" sz="1600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Laurelwood Road, Suite 210</a:t>
            </a:r>
          </a:p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Santa Clara, CA </a:t>
            </a:r>
            <a:r>
              <a:rPr lang="en-US" sz="1600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95054</a:t>
            </a:r>
          </a:p>
          <a:p>
            <a:pPr marL="0" indent="0">
              <a:buNone/>
            </a:pPr>
            <a:endParaRPr lang="en-US" sz="1800" dirty="0" smtClean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  <a:hlinkClick r:id="rId2"/>
              </a:rPr>
              <a:t>www.persistent.com</a:t>
            </a:r>
            <a:endParaRPr lang="en-US" sz="1600" dirty="0" smtClean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0" indent="0">
              <a:buNone/>
            </a:pPr>
            <a:endParaRPr lang="en-US" sz="1800" dirty="0" smtClean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5" name="Subtitle 4"/>
          <p:cNvSpPr txBox="1">
            <a:spLocks/>
          </p:cNvSpPr>
          <p:nvPr/>
        </p:nvSpPr>
        <p:spPr>
          <a:xfrm>
            <a:off x="584709" y="2909556"/>
            <a:ext cx="3776663" cy="423863"/>
          </a:xfrm>
          <a:prstGeom prst="rect">
            <a:avLst/>
          </a:prstGeom>
        </p:spPr>
        <p:txBody>
          <a:bodyPr/>
          <a:lstStyle>
            <a:lvl1pPr marL="231775" indent="-23177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899"/>
              </a:buClr>
              <a:buFont typeface="Wingdings 2" pitchFamily="18" charset="2"/>
              <a:buChar char=""/>
              <a:defRPr sz="20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  <a:lvl2pPr marL="573088" indent="-23177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 2" pitchFamily="18" charset="2"/>
              <a:buChar char=""/>
              <a:defRPr sz="18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2pPr>
            <a:lvl3pPr marL="914400" indent="-231775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3"/>
              </a:buClr>
              <a:buFont typeface="Wingdings 2" pitchFamily="18" charset="2"/>
              <a:buChar char=""/>
              <a:defRPr sz="16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3pPr>
            <a:lvl4pPr marL="1195388" indent="-1714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4"/>
              </a:buClr>
              <a:buFont typeface="Wingdings 2" pitchFamily="18" charset="2"/>
              <a:buChar char=""/>
              <a:defRPr sz="1400" kern="1200">
                <a:solidFill>
                  <a:srgbClr val="404040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4pPr>
            <a:lvl5pPr marL="1377950" indent="-122238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Name</a:t>
            </a:r>
            <a:endParaRPr lang="en-US" sz="1800" b="1" dirty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###-###-####</a:t>
            </a:r>
            <a:endParaRPr lang="en-US" sz="1600" dirty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email</a:t>
            </a:r>
            <a:endParaRPr lang="en-US" sz="160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0" indent="0">
              <a:buNone/>
            </a:pPr>
            <a:endParaRPr lang="en-US" sz="1800" dirty="0" smtClean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7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ersistent Template-2015_Final">
  <a:themeElements>
    <a:clrScheme name="Persistent">
      <a:dk1>
        <a:sysClr val="windowText" lastClr="000000"/>
      </a:dk1>
      <a:lt1>
        <a:sysClr val="window" lastClr="FFFFFF"/>
      </a:lt1>
      <a:dk2>
        <a:srgbClr val="404040"/>
      </a:dk2>
      <a:lt2>
        <a:srgbClr val="9DDCF9"/>
      </a:lt2>
      <a:accent1>
        <a:srgbClr val="006899"/>
      </a:accent1>
      <a:accent2>
        <a:srgbClr val="F37021"/>
      </a:accent2>
      <a:accent3>
        <a:srgbClr val="8DC63F"/>
      </a:accent3>
      <a:accent4>
        <a:srgbClr val="7F7F7F"/>
      </a:accent4>
      <a:accent5>
        <a:srgbClr val="A6A6A6"/>
      </a:accent5>
      <a:accent6>
        <a:srgbClr val="FFD87D"/>
      </a:accent6>
      <a:hlink>
        <a:srgbClr val="006899"/>
      </a:hlink>
      <a:folHlink>
        <a:srgbClr val="7F7F7F"/>
      </a:folHlink>
    </a:clrScheme>
    <a:fontScheme name="Persist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Persistent Template-2015_Final</Template>
  <TotalTime>1356</TotalTime>
  <Words>2655</Words>
  <Application>Microsoft Office PowerPoint</Application>
  <PresentationFormat>On-screen Show (16:9)</PresentationFormat>
  <Paragraphs>432</Paragraphs>
  <Slides>41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Consolas</vt:lpstr>
      <vt:lpstr>Courier New</vt:lpstr>
      <vt:lpstr>ＭＳ Ｐゴシック</vt:lpstr>
      <vt:lpstr>Times New Roman</vt:lpstr>
      <vt:lpstr>Verdana</vt:lpstr>
      <vt:lpstr>Wingdings 2</vt:lpstr>
      <vt:lpstr>Persistent Template-2015_Final</vt:lpstr>
      <vt:lpstr>MEAN Stack</vt:lpstr>
      <vt:lpstr>CONTENTS</vt:lpstr>
      <vt:lpstr>What to expect from this session?</vt:lpstr>
      <vt:lpstr>Mean is an acronym:</vt:lpstr>
      <vt:lpstr>Same Lang Same Object, End-to-End</vt:lpstr>
      <vt:lpstr>Mean Workflow:</vt:lpstr>
      <vt:lpstr>Blog app</vt:lpstr>
      <vt:lpstr>MongoDB A cross-platform document-oriented database. </vt:lpstr>
      <vt:lpstr>What is MongoDB?</vt:lpstr>
      <vt:lpstr>What is Document Database?</vt:lpstr>
      <vt:lpstr>Key Features of MongoDB</vt:lpstr>
      <vt:lpstr>Key Features of MongoDB</vt:lpstr>
      <vt:lpstr>Installation</vt:lpstr>
      <vt:lpstr>Installation</vt:lpstr>
      <vt:lpstr>Installation</vt:lpstr>
      <vt:lpstr>Installation</vt:lpstr>
      <vt:lpstr>Server Coding with  Node.js and Express Framework</vt:lpstr>
      <vt:lpstr>What is node.js?</vt:lpstr>
      <vt:lpstr>What is NPM?</vt:lpstr>
      <vt:lpstr>Node installation</vt:lpstr>
      <vt:lpstr>What is Express?</vt:lpstr>
      <vt:lpstr>Express Setup</vt:lpstr>
      <vt:lpstr>App Structure</vt:lpstr>
      <vt:lpstr>MongoDB connection</vt:lpstr>
      <vt:lpstr>MongoDB connection</vt:lpstr>
      <vt:lpstr>MongoDB connection</vt:lpstr>
      <vt:lpstr>Blog - API Development</vt:lpstr>
      <vt:lpstr>Blog - API Development</vt:lpstr>
      <vt:lpstr>Blog - API Development</vt:lpstr>
      <vt:lpstr>Frontend code with Angular JS</vt:lpstr>
      <vt:lpstr>Sample title style (Arial - 28pt - Bold)</vt:lpstr>
      <vt:lpstr>Angular Components</vt:lpstr>
      <vt:lpstr>Angular js -Angular Components</vt:lpstr>
      <vt:lpstr>Frontend development – Code Setup</vt:lpstr>
      <vt:lpstr>Frontend development – Code Setup</vt:lpstr>
      <vt:lpstr>Frontend development – USER</vt:lpstr>
      <vt:lpstr>Frontend development – USER</vt:lpstr>
      <vt:lpstr>Frontend development – Blog POST</vt:lpstr>
      <vt:lpstr>Final Output – Home Page</vt:lpstr>
      <vt:lpstr>Final Output – Blog Detail Page</vt:lpstr>
      <vt:lpstr>Contact Us</vt:lpstr>
    </vt:vector>
  </TitlesOfParts>
  <Company>Dell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 will go here - Two line maximum</dc:title>
  <dc:creator>Anjali Hude</dc:creator>
  <cp:lastModifiedBy>Rajesh Jha</cp:lastModifiedBy>
  <cp:revision>174</cp:revision>
  <dcterms:created xsi:type="dcterms:W3CDTF">2015-02-04T08:24:48Z</dcterms:created>
  <dcterms:modified xsi:type="dcterms:W3CDTF">2016-01-28T05:40:04Z</dcterms:modified>
</cp:coreProperties>
</file>